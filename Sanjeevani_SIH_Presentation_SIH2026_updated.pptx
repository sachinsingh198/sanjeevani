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71600" y="411480"/>
            <a:ext cx="8229600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3200" b="1">
                <a:solidFill>
                  <a:srgbClr val="28588C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949440" cy="25545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lang="en-US" sz="1200" b="1" dirty="0">
                <a:solidFill>
                  <a:srgbClr val="1A2333"/>
                </a:solidFill>
                <a:latin typeface="Arial"/>
              </a:rPr>
              <a:t>•  Problem Statement ID - </a:t>
            </a:r>
            <a:r>
              <a:rPr lang="en-US" sz="1200" b="1" dirty="0">
                <a:solidFill>
                  <a:srgbClr val="28588C"/>
                </a:solidFill>
                <a:latin typeface="Arial"/>
              </a:rPr>
              <a:t>SIH26133</a:t>
            </a:r>
          </a:p>
          <a:p>
            <a:pPr>
              <a:spcAft>
                <a:spcPts val="1400"/>
              </a:spcAft>
            </a:pPr>
            <a:r>
              <a:rPr lang="en-US" sz="1200" b="1" dirty="0">
                <a:solidFill>
                  <a:srgbClr val="1A2333"/>
                </a:solidFill>
                <a:latin typeface="Arial"/>
              </a:rPr>
              <a:t>•  Problem Statement Title- </a:t>
            </a:r>
            <a:r>
              <a:rPr lang="en-US" sz="1200" b="1" dirty="0">
                <a:solidFill>
                  <a:srgbClr val="28588C"/>
                </a:solidFill>
                <a:latin typeface="Arial"/>
              </a:rPr>
              <a:t>Accessibility and quality of public healthcare services, particularly in rural and underserved areas</a:t>
            </a:r>
          </a:p>
          <a:p>
            <a:pPr>
              <a:spcAft>
                <a:spcPts val="1400"/>
              </a:spcAft>
            </a:pPr>
            <a:r>
              <a:rPr lang="en-US" sz="1200" b="1" dirty="0">
                <a:solidFill>
                  <a:srgbClr val="1A2333"/>
                </a:solidFill>
                <a:latin typeface="Arial"/>
              </a:rPr>
              <a:t>•  Theme- </a:t>
            </a:r>
            <a:r>
              <a:rPr lang="en-US" sz="1200" b="1" dirty="0">
                <a:solidFill>
                  <a:schemeClr val="tx2"/>
                </a:solidFill>
                <a:latin typeface="Arial"/>
              </a:rPr>
              <a:t>Healthcare &amp; Biomedical Technology / Rural Development</a:t>
            </a:r>
          </a:p>
          <a:p>
            <a:pPr>
              <a:spcAft>
                <a:spcPts val="1400"/>
              </a:spcAft>
            </a:pPr>
            <a:r>
              <a:rPr lang="en-US" sz="1200" b="1" dirty="0">
                <a:solidFill>
                  <a:srgbClr val="1A2333"/>
                </a:solidFill>
                <a:latin typeface="Arial"/>
              </a:rPr>
              <a:t>•  PS Category- </a:t>
            </a:r>
            <a:r>
              <a:rPr lang="en-US" sz="1200" b="1" dirty="0">
                <a:solidFill>
                  <a:schemeClr val="tx2"/>
                </a:solidFill>
                <a:latin typeface="Arial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lang="en-US" sz="1200" b="1" dirty="0">
                <a:solidFill>
                  <a:srgbClr val="1A2333"/>
                </a:solidFill>
                <a:latin typeface="Arial"/>
              </a:rPr>
              <a:t>•  </a:t>
            </a:r>
            <a:r>
              <a:rPr lang="en-US" sz="1200" b="1">
                <a:solidFill>
                  <a:srgbClr val="1A2333"/>
                </a:solidFill>
                <a:latin typeface="Arial"/>
              </a:rPr>
              <a:t>Team ID-</a:t>
            </a:r>
            <a:endParaRPr lang="en-US" sz="1200" b="1" dirty="0">
              <a:solidFill>
                <a:schemeClr val="tx2"/>
              </a:solidFill>
              <a:latin typeface="Arial"/>
            </a:endParaRPr>
          </a:p>
          <a:p>
            <a:pPr>
              <a:spcAft>
                <a:spcPts val="1400"/>
              </a:spcAft>
            </a:pPr>
            <a:r>
              <a:rPr lang="en-US" sz="1200" b="1" dirty="0">
                <a:solidFill>
                  <a:srgbClr val="1A2333"/>
                </a:solidFill>
                <a:latin typeface="Arial"/>
              </a:rPr>
              <a:t>•  Team Name:- </a:t>
            </a:r>
            <a:r>
              <a:rPr lang="en-US" sz="1200" b="1" dirty="0">
                <a:solidFill>
                  <a:schemeClr val="tx2"/>
                </a:solidFill>
                <a:latin typeface="Arial"/>
              </a:rPr>
              <a:t>Arogya</a:t>
            </a:r>
          </a:p>
          <a:p>
            <a:pPr>
              <a:spcAft>
                <a:spcPts val="1400"/>
              </a:spcAft>
            </a:pPr>
            <a:r>
              <a:rPr lang="en-US" sz="1200" b="1" dirty="0">
                <a:solidFill>
                  <a:srgbClr val="1A2333"/>
                </a:solidFill>
                <a:latin typeface="Arial"/>
              </a:rPr>
              <a:t>•  Project Name:- </a:t>
            </a:r>
            <a:r>
              <a:rPr lang="en-US" sz="1200" b="1" dirty="0">
                <a:solidFill>
                  <a:schemeClr val="tx2"/>
                </a:solidFill>
                <a:latin typeface="Arial"/>
              </a:rPr>
              <a:t>Sanjeevani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11430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t>@Sanjeevani-TeleHealth                                                                                                                                           1</a:t>
            </a:r>
          </a:p>
        </p:txBody>
      </p:sp>
      <p:pic>
        <p:nvPicPr>
          <p:cNvPr id="9" name="Picture 8" descr="SIH_2026_logo_upscaled.png">
            <a:extLst>
              <a:ext uri="{FF2B5EF4-FFF2-40B4-BE49-F238E27FC236}">
                <a16:creationId xmlns:a16="http://schemas.microsoft.com/office/drawing/2014/main" id="{2845735D-BEC4-F8B5-5CE6-968F99680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920240" cy="9601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985A51-8FF8-973C-18DB-C38797B2C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311" y="1645920"/>
            <a:ext cx="3330567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100" b="1">
                <a:solidFill>
                  <a:srgbClr val="4E5B6E"/>
                </a:solidFill>
              </a:defRPr>
            </a:pPr>
            <a:r>
              <a:rPr lang="en-IN" dirty="0"/>
              <a:t>Team</a:t>
            </a:r>
          </a:p>
          <a:p>
            <a:pPr algn="ctr">
              <a:defRPr sz="1300" b="1">
                <a:solidFill>
                  <a:srgbClr val="1E2A43"/>
                </a:solidFill>
              </a:defRPr>
            </a:pPr>
            <a:r>
              <a:rPr lang="en-IN" dirty="0"/>
              <a:t>Arogya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64592"/>
            <a:ext cx="768096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100" b="1">
                <a:solidFill>
                  <a:srgbClr val="28588C"/>
                </a:solidFill>
                <a:latin typeface="Georgia"/>
              </a:defRPr>
            </a:pPr>
            <a:r>
              <a:rPr dirty="0"/>
              <a:t>Sanjeevani: AI Platform for Verifiable Himalayan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11430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t>@Sanjeevani-TeleHealth                                                                                                                                           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12064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06424"/>
            <a:ext cx="4901183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A43"/>
                </a:solidFill>
                <a:latin typeface="Arial"/>
              </a:defRPr>
            </a:pPr>
            <a:r>
              <a:t>Proposed Solution &amp; Clinical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53895"/>
            <a:ext cx="4901183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19">
                <a:solidFill>
                  <a:srgbClr val="1A2333"/>
                </a:solidFill>
              </a:defRPr>
            </a:pPr>
            <a:r>
              <a:t>Autonomous, dialect-aware clinical triage &amp; decision platform digitizing primary healthcare across isolated mountain villages.</a:t>
            </a:r>
          </a:p>
          <a:p>
            <a:pPr>
              <a:spcAft>
                <a:spcPts val="400"/>
              </a:spcAft>
            </a:pPr>
            <a:r>
              <a:rPr sz="860" b="1">
                <a:solidFill>
                  <a:srgbClr val="1E2A43"/>
                </a:solidFill>
              </a:rPr>
              <a:t>• Deterministic Manchester Triage: </a:t>
            </a:r>
            <a:r>
              <a:rPr sz="819">
                <a:solidFill>
                  <a:srgbClr val="4E5B6E"/>
                </a:solidFill>
              </a:rPr>
              <a:t>Rules engine evaluates complaints with bi-directional negation awareness, eliminating generative AI hallucinations.</a:t>
            </a:r>
          </a:p>
          <a:p>
            <a:pPr>
              <a:spcAft>
                <a:spcPts val="400"/>
              </a:spcAft>
            </a:pPr>
            <a:r>
              <a:rPr sz="860" b="1">
                <a:solidFill>
                  <a:srgbClr val="1E2A43"/>
                </a:solidFill>
              </a:rPr>
              <a:t>• Socratic Clinical Interview: </a:t>
            </a:r>
            <a:r>
              <a:rPr sz="819">
                <a:solidFill>
                  <a:srgbClr val="4E5B6E"/>
                </a:solidFill>
              </a:rPr>
              <a:t>Conducts adaptive multi-turn differential history taking (turns 1-5) before finalizing assessments.</a:t>
            </a:r>
          </a:p>
          <a:p>
            <a:pPr>
              <a:spcAft>
                <a:spcPts val="400"/>
              </a:spcAft>
            </a:pPr>
            <a:r>
              <a:rPr sz="860" b="1">
                <a:solidFill>
                  <a:srgbClr val="1E2A43"/>
                </a:solidFill>
              </a:rPr>
              <a:t>• AYUSH Hybrid Vector RAG: </a:t>
            </a:r>
            <a:r>
              <a:rPr sz="819">
                <a:solidFill>
                  <a:srgbClr val="4E5B6E"/>
                </a:solidFill>
              </a:rPr>
              <a:t>Indexes 100+ CCRAS formulations, 114 Vaidya Chikitsa chapters &amp; 119 Dravyaguna herbs via FastEmbed &amp; Qdrant.</a:t>
            </a:r>
          </a:p>
          <a:p>
            <a:pPr>
              <a:spcAft>
                <a:spcPts val="400"/>
              </a:spcAft>
            </a:pPr>
            <a:r>
              <a:rPr sz="860" b="1">
                <a:solidFill>
                  <a:srgbClr val="1E2A43"/>
                </a:solidFill>
              </a:rPr>
              <a:t>• Five-Layer Clinical Safety Gate: </a:t>
            </a:r>
            <a:r>
              <a:rPr sz="819">
                <a:solidFill>
                  <a:srgbClr val="4E5B6E"/>
                </a:solidFill>
              </a:rPr>
              <a:t>Programmatically blocks contraindicated herbs (ulcers, hypertension) and toxic folk substances (tobacco/snuff).</a:t>
            </a:r>
          </a:p>
          <a:p>
            <a:pPr>
              <a:spcAft>
                <a:spcPts val="400"/>
              </a:spcAft>
            </a:pPr>
            <a:r>
              <a:rPr sz="860" b="1">
                <a:solidFill>
                  <a:srgbClr val="1E2A43"/>
                </a:solidFill>
              </a:rPr>
              <a:t>• Multilingual Dialect Voice: </a:t>
            </a:r>
            <a:r>
              <a:rPr sz="819">
                <a:solidFill>
                  <a:srgbClr val="4E5B6E"/>
                </a:solidFill>
              </a:rPr>
              <a:t>Native Garhwali &amp; Hindi speech recognition (Sarvam Saaras v3) + neural streaming voice (Bulbul v3) in &lt;1.5s.</a:t>
            </a:r>
          </a:p>
          <a:p>
            <a:pPr>
              <a:spcAft>
                <a:spcPts val="400"/>
              </a:spcAft>
            </a:pPr>
            <a:r>
              <a:rPr sz="860" b="1">
                <a:solidFill>
                  <a:srgbClr val="1E2A43"/>
                </a:solidFill>
              </a:rPr>
              <a:t>• Non-Invasive Optical Screening: </a:t>
            </a:r>
            <a:r>
              <a:rPr sz="819">
                <a:solidFill>
                  <a:srgbClr val="4E5B6E"/>
                </a:solidFill>
              </a:rPr>
              <a:t>Pure CPU OpenCV algorithms estimating Hemoglobin (Anemia) and Bilirubin (Jaundice) right at the doorstep.</a:t>
            </a:r>
          </a:p>
        </p:txBody>
      </p:sp>
      <p:pic>
        <p:nvPicPr>
          <p:cNvPr id="10" name="Picture 9" descr="sanjeevani_doctor_intake_flow_17903894534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51560"/>
            <a:ext cx="6126480" cy="3429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669280" y="4572000"/>
            <a:ext cx="612648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79008" y="4626864"/>
            <a:ext cx="590702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A43"/>
                </a:solidFill>
                <a:latin typeface="Arial"/>
              </a:defRPr>
            </a:pPr>
            <a:r>
              <a:t>Key Innovations &amp; Problem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8" y="4974336"/>
            <a:ext cx="5907024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60" b="1">
                <a:solidFill>
                  <a:srgbClr val="28588C"/>
                </a:solidFill>
              </a:rPr>
              <a:t>• Eliminates Distance Barrier: </a:t>
            </a:r>
            <a:r>
              <a:rPr sz="819">
                <a:solidFill>
                  <a:srgbClr val="4E5B6E"/>
                </a:solidFill>
              </a:rPr>
              <a:t>Saves villagers hazardous 15-30 km mountain hikes; safely resolves ~45% routine symptoms at home.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28588C"/>
                </a:solidFill>
              </a:rPr>
              <a:t>• Instant Emergency Escalation: </a:t>
            </a:r>
            <a:r>
              <a:rPr sz="819">
                <a:solidFill>
                  <a:srgbClr val="4E5B6E"/>
                </a:solidFill>
              </a:rPr>
              <a:t>Classifies Red-tier life threats (cardiac, stroke, dyspnea) in &lt;2s with 1-tap 108 SOS ambulance dispatch.</a:t>
            </a:r>
          </a:p>
          <a:p>
            <a:pPr>
              <a:spcAft>
                <a:spcPts val="300"/>
              </a:spcAft>
            </a:pPr>
            <a:r>
              <a:rPr sz="860" b="1">
                <a:solidFill>
                  <a:srgbClr val="28588C"/>
                </a:solidFill>
              </a:rPr>
              <a:t>• ABDM &amp; HL7 FHIR Interoperability: </a:t>
            </a:r>
            <a:r>
              <a:rPr sz="819">
                <a:solidFill>
                  <a:srgbClr val="4E5B6E"/>
                </a:solidFill>
              </a:rPr>
              <a:t>Generates standardized electronic referral records ready for direct Ayushman Bharat ingest.</a:t>
            </a:r>
          </a:p>
        </p:txBody>
      </p:sp>
      <p:pic>
        <p:nvPicPr>
          <p:cNvPr id="17" name="Picture 16" descr="SIH_2026_logo_upscaled.png">
            <a:extLst>
              <a:ext uri="{FF2B5EF4-FFF2-40B4-BE49-F238E27FC236}">
                <a16:creationId xmlns:a16="http://schemas.microsoft.com/office/drawing/2014/main" id="{3ACCF7B6-7517-DA10-7E8D-7E6BD86FD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880" y="0"/>
            <a:ext cx="192024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100" b="1">
                <a:solidFill>
                  <a:srgbClr val="4E5B6E"/>
                </a:solidFill>
              </a:defRPr>
            </a:pPr>
            <a:r>
              <a:rPr lang="en-IN" dirty="0"/>
              <a:t>Team</a:t>
            </a:r>
          </a:p>
          <a:p>
            <a:pPr algn="ctr">
              <a:defRPr sz="1300" b="1">
                <a:solidFill>
                  <a:srgbClr val="1E2A43"/>
                </a:solidFill>
              </a:defRPr>
            </a:pPr>
            <a:r>
              <a:rPr lang="en-IN" dirty="0"/>
              <a:t>Arogya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64592"/>
            <a:ext cx="768096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100" b="1">
                <a:solidFill>
                  <a:srgbClr val="28588C"/>
                </a:solidFill>
                <a:latin typeface="Georgia"/>
              </a:defRPr>
            </a:pPr>
            <a:r>
              <a:t>TECHNICAL APPROACH &amp;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11430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t>@Sanjeevani-TeleHealth                                                                                                                                           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93192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06424"/>
            <a:ext cx="3712463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A43"/>
                </a:solidFill>
                <a:latin typeface="Arial"/>
              </a:defRPr>
            </a:pPr>
            <a:r>
              <a:t>Tech Stack for Mobile App and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53895"/>
            <a:ext cx="3712463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919" b="1">
                <a:solidFill>
                  <a:srgbClr val="1E2A43"/>
                </a:solidFill>
              </a:defRPr>
            </a:pPr>
            <a:r>
              <a:t>Modular, High-Performance Production Stack</a:t>
            </a:r>
          </a:p>
          <a:p>
            <a:pPr>
              <a:spcAft>
                <a:spcPts val="400"/>
              </a:spcAft>
            </a:pPr>
            <a:r>
              <a:rPr sz="860" b="1">
                <a:solidFill>
                  <a:srgbClr val="1E2A43"/>
                </a:solidFill>
              </a:rPr>
              <a:t>• Client Application:
</a:t>
            </a:r>
            <a:r>
              <a:rPr sz="800">
                <a:solidFill>
                  <a:srgbClr val="4E5B6E"/>
                </a:solidFill>
              </a:rPr>
              <a:t>PWA (React 19, Vite, Tailwind v4), Web Audio API, Web Workers, IndexedDB Offline Cache</a:t>
            </a:r>
          </a:p>
          <a:p>
            <a:pPr>
              <a:spcAft>
                <a:spcPts val="400"/>
              </a:spcAft>
            </a:pPr>
            <a:r>
              <a:rPr sz="860" b="1">
                <a:solidFill>
                  <a:srgbClr val="1E2A43"/>
                </a:solidFill>
              </a:rPr>
              <a:t>• Backend API Core:
</a:t>
            </a:r>
            <a:r>
              <a:rPr sz="800">
                <a:solidFill>
                  <a:srgbClr val="4E5B6E"/>
                </a:solidFill>
              </a:rPr>
              <a:t>FastAPI (Async Python 3.13), LangGraph Cyclic Workflow, SQLAlchemy, Uvicorn Daemon</a:t>
            </a:r>
          </a:p>
          <a:p>
            <a:pPr>
              <a:spcAft>
                <a:spcPts val="400"/>
              </a:spcAft>
            </a:pPr>
            <a:r>
              <a:rPr sz="860" b="1">
                <a:solidFill>
                  <a:srgbClr val="1E2A43"/>
                </a:solidFill>
              </a:rPr>
              <a:t>• AI &amp; Speech Engine:
</a:t>
            </a:r>
            <a:r>
              <a:rPr sz="800">
                <a:solidFill>
                  <a:srgbClr val="4E5B6E"/>
                </a:solidFill>
              </a:rPr>
              <a:t>Sarvam AI (Saaras v3 STT &amp; Bulbul v3 TTS), Groq Llama-3.1 70B, Gemini Flash fallback</a:t>
            </a:r>
          </a:p>
          <a:p>
            <a:pPr>
              <a:spcAft>
                <a:spcPts val="400"/>
              </a:spcAft>
            </a:pPr>
            <a:r>
              <a:rPr sz="860" b="1">
                <a:solidFill>
                  <a:srgbClr val="1E2A43"/>
                </a:solidFill>
              </a:rPr>
              <a:t>• Vector Database &amp; RAG:
</a:t>
            </a:r>
            <a:r>
              <a:rPr sz="800">
                <a:solidFill>
                  <a:srgbClr val="4E5B6E"/>
                </a:solidFill>
              </a:rPr>
              <a:t>Qdrant Vector DB (Cloud &amp; Local Disk), FastEmbed dense 384-dim (all-MiniLM-L6-v2)</a:t>
            </a:r>
          </a:p>
          <a:p>
            <a:pPr>
              <a:spcAft>
                <a:spcPts val="400"/>
              </a:spcAft>
            </a:pPr>
            <a:r>
              <a:rPr sz="860" b="1">
                <a:solidFill>
                  <a:srgbClr val="1E2A43"/>
                </a:solidFill>
              </a:rPr>
              <a:t>• Edge CV Pipeline:
</a:t>
            </a:r>
            <a:r>
              <a:rPr sz="800">
                <a:solidFill>
                  <a:srgbClr val="4E5B6E"/>
                </a:solidFill>
              </a:rPr>
              <a:t>OpenCV, NumPy, CIELAB Erythema Index, HSV Sclera masking, Bilateral specular filter</a:t>
            </a:r>
          </a:p>
          <a:p>
            <a:pPr>
              <a:spcAft>
                <a:spcPts val="400"/>
              </a:spcAft>
            </a:pPr>
            <a:r>
              <a:rPr sz="860" b="1">
                <a:solidFill>
                  <a:srgbClr val="1E2A43"/>
                </a:solidFill>
              </a:rPr>
              <a:t>• Persistence &amp; Sync:
</a:t>
            </a:r>
            <a:r>
              <a:rPr sz="800">
                <a:solidFill>
                  <a:srgbClr val="4E5B6E"/>
                </a:solidFill>
              </a:rPr>
              <a:t>SQLite in WAL mode (sessions.db), Dual Checkpointer, HL7 FHIR R4, Zero-PII Audit Log</a:t>
            </a:r>
          </a:p>
        </p:txBody>
      </p:sp>
      <p:pic>
        <p:nvPicPr>
          <p:cNvPr id="10" name="Picture 9" descr="sanjeevani_architecture_infographic_17903894137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051560"/>
            <a:ext cx="7315200" cy="39776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480560" y="5120640"/>
            <a:ext cx="73152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28588C"/>
                </a:solidFill>
              </a:defRPr>
            </a:pPr>
            <a:r>
              <a:t>End-to-End Clinical Dataflow Pipeline</a:t>
            </a:r>
          </a:p>
          <a:p>
            <a:pPr>
              <a:defRPr sz="780">
                <a:solidFill>
                  <a:srgbClr val="4E5B6E"/>
                </a:solidFill>
              </a:defRPr>
            </a:pPr>
            <a:r>
              <a:t>1. Multimodal Input: Patient speaks in Garhwali/Hindi or ASHA uploads camera photo.</a:t>
            </a:r>
            <a:br/>
            <a:r>
              <a:t>2. Deterministic Triage: Manchester Triage (MTS) rules engine parses urgency with negation checking.</a:t>
            </a:r>
            <a:br/>
            <a:r>
              <a:t>3. LangGraph Reasoner: Multi-turn clinical interview executes Socratic intake, differential diagnosis &amp; RAG.</a:t>
            </a:r>
            <a:br/>
            <a:r>
              <a:t>4. Dual Clinical Action: Dispatches 108 Emergency Ambulance SOS OR delivers verified CCRAS prescription.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6A1B35-9CDC-6D41-520B-D74F23257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402" y="-1906"/>
            <a:ext cx="1914525" cy="962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100" b="1">
                <a:solidFill>
                  <a:srgbClr val="4E5B6E"/>
                </a:solidFill>
              </a:defRPr>
            </a:pPr>
            <a:r>
              <a:rPr lang="en-IN" dirty="0"/>
              <a:t>Team</a:t>
            </a:r>
          </a:p>
          <a:p>
            <a:pPr algn="ctr">
              <a:defRPr sz="1300" b="1">
                <a:solidFill>
                  <a:srgbClr val="1E2A43"/>
                </a:solidFill>
              </a:defRPr>
            </a:pPr>
            <a:r>
              <a:rPr lang="en-IN" dirty="0"/>
              <a:t>Arogya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64592"/>
            <a:ext cx="768096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100" b="1">
                <a:solidFill>
                  <a:srgbClr val="28588C"/>
                </a:solidFill>
                <a:latin typeface="Georgia"/>
              </a:defRPr>
            </a:pPr>
            <a:r>
              <a:t>FEASIBILITY, VIABILITY &amp; OFFLINE 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11430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t>@Sanjeevani-TeleHealth                                                                                                                                           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0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06424"/>
            <a:ext cx="526694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A43"/>
                </a:solidFill>
                <a:latin typeface="Arial"/>
              </a:defRPr>
            </a:pPr>
            <a:r>
              <a:t>Feasibility Across Key Dimensions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53895"/>
            <a:ext cx="5266944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"/>
              </a:spcAft>
            </a:pPr>
            <a:r>
              <a:rPr sz="850" b="1">
                <a:solidFill>
                  <a:srgbClr val="1E2A43"/>
                </a:solidFill>
              </a:rPr>
              <a:t>• Technical: </a:t>
            </a:r>
            <a:r>
              <a:rPr sz="810">
                <a:solidFill>
                  <a:srgbClr val="4E5B6E"/>
                </a:solidFill>
              </a:rPr>
              <a:t>Lightweight PWA runs smoothly on low-cost 2GB RAM phones; &lt;1.5s voice-to-voice response.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E2A43"/>
                </a:solidFill>
              </a:rPr>
              <a:t>• Operational: </a:t>
            </a:r>
            <a:r>
              <a:rPr sz="810">
                <a:solidFill>
                  <a:srgbClr val="4E5B6E"/>
                </a:solidFill>
              </a:rPr>
              <a:t>Offline-first design, intuitive Devanagari UI &amp; voice prompts require &lt;15 mins ASHA training.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E2A43"/>
                </a:solidFill>
              </a:rPr>
              <a:t>• Economic: </a:t>
            </a:r>
            <a:r>
              <a:rPr sz="810">
                <a:solidFill>
                  <a:srgbClr val="4E5B6E"/>
                </a:solidFill>
              </a:rPr>
              <a:t>Zero capital hardware expense; saves remote families ₹1,200 to ₹3,500 in mountain transit costs.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E2A43"/>
                </a:solidFill>
              </a:rPr>
              <a:t>• Legal/Compliance: </a:t>
            </a:r>
            <a:r>
              <a:rPr sz="810">
                <a:solidFill>
                  <a:srgbClr val="4E5B6E"/>
                </a:solidFill>
              </a:rPr>
              <a:t>Patient consent architecture, Zero-PII analytics logging, and strict clinical disclaimers.</a:t>
            </a:r>
          </a:p>
          <a:p>
            <a:pPr>
              <a:spcAft>
                <a:spcPts val="250"/>
              </a:spcAft>
            </a:pPr>
            <a:r>
              <a:rPr sz="850" b="1">
                <a:solidFill>
                  <a:srgbClr val="1E2A43"/>
                </a:solidFill>
              </a:rPr>
              <a:t>• Market/Value: </a:t>
            </a:r>
            <a:r>
              <a:rPr sz="810">
                <a:solidFill>
                  <a:srgbClr val="4E5B6E"/>
                </a:solidFill>
              </a:rPr>
              <a:t>Directly bridges critical gaps for Ayushman Bharat Digital Mission (ABDM) in mountain states.</a:t>
            </a:r>
          </a:p>
        </p:txBody>
      </p:sp>
      <p:pic>
        <p:nvPicPr>
          <p:cNvPr id="10" name="Picture 9" descr="sanjeevani_offline_sync_resilience_17903894953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51560"/>
            <a:ext cx="5760720" cy="246888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61188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Challenges / Risks</a:t>
                      </a:r>
                    </a:p>
                  </a:txBody>
                  <a:tcPr anchor="ctr">
                    <a:solidFill>
                      <a:srgbClr val="2858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Root Cause &amp; Description</a:t>
                      </a:r>
                    </a:p>
                  </a:txBody>
                  <a:tcPr anchor="ctr">
                    <a:solidFill>
                      <a:srgbClr val="2858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Sanjeevani Architectural Mitigation</a:t>
                      </a:r>
                    </a:p>
                  </a:txBody>
                  <a:tcPr anchor="ctr">
                    <a:solidFill>
                      <a:srgbClr val="285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A43"/>
                          </a:solidFill>
                        </a:defRPr>
                      </a:pPr>
                      <a:r>
                        <a:t>Network Outages &amp; Landslides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E5B6E"/>
                          </a:solidFill>
                        </a:defRPr>
                      </a:pPr>
                      <a:r>
                        <a:t>Fiber breaks and zero cellular signal in mountain gorges block cloud LLMs.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E5B6E"/>
                          </a:solidFill>
                        </a:defRPr>
                      </a:pPr>
                      <a:r>
                        <a:t>Dual-layer offline architecture: Client-side rule MTS triage + IndexedDB sync queue to SQLite WAL.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A43"/>
                          </a:solidFill>
                        </a:defRPr>
                      </a:pPr>
                      <a:r>
                        <a:t>Dialect &amp; Acoustic Wind Noise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E5B6E"/>
                          </a:solidFill>
                        </a:defRPr>
                      </a:pPr>
                      <a:r>
                        <a:t>Alpine winds and colloquial Garhwali idioms cause speech transcription errors.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E5B6E"/>
                          </a:solidFill>
                        </a:defRPr>
                      </a:pPr>
                      <a:r>
                        <a:t>Acoustic noise cancellation filter + specialized Garhwali phonetic lexicon + confirmation chips.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A43"/>
                          </a:solidFill>
                        </a:defRPr>
                      </a:pPr>
                      <a:r>
                        <a:t>AI Clinical Hallucination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E5B6E"/>
                          </a:solidFill>
                        </a:defRPr>
                      </a:pPr>
                      <a:r>
                        <a:t>Generative LLMs prescribing unsafe herbs or missing acute cardiac signs.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E5B6E"/>
                          </a:solidFill>
                        </a:defRPr>
                      </a:pPr>
                      <a:r>
                        <a:t>Deterministic Safety Knowledge Graph blocks toxic herbs; Red flags bypass LLM to trigger 108 SOS.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A43"/>
                          </a:solidFill>
                        </a:defRPr>
                      </a:pPr>
                      <a:r>
                        <a:t>Himalayan Lighting in CV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E5B6E"/>
                          </a:solidFill>
                        </a:defRPr>
                      </a:pPr>
                      <a:r>
                        <a:t>High-altitude UV glacier glare or dim stone huts distort camera colors.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E5B6E"/>
                          </a:solidFill>
                        </a:defRPr>
                      </a:pPr>
                      <a:r>
                        <a:t>Bilateral specular denoising + CLAHE contrast normalization in CIELAB/HSV color spaces.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A43"/>
                          </a:solidFill>
                        </a:defRPr>
                      </a:pPr>
                      <a:r>
                        <a:t>Low Tech Adoption in Elders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E5B6E"/>
                          </a:solidFill>
                        </a:defRPr>
                      </a:pPr>
                      <a:r>
                        <a:t>Elderly villagers unable to read screens or navigate complex touch interfaces.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E5B6E"/>
                          </a:solidFill>
                        </a:defRPr>
                      </a:pPr>
                      <a:r>
                        <a:t>Hands-free conversational voice interface (Sarvam TTS) with respectful village tone ('Dada-ji').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ADC6E76E-8700-9500-BB21-CA96C3BB1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8880" y="27432"/>
            <a:ext cx="1914525" cy="962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100" b="1">
                <a:solidFill>
                  <a:srgbClr val="4E5B6E"/>
                </a:solidFill>
              </a:defRPr>
            </a:pPr>
            <a:r>
              <a:t>Team</a:t>
            </a:r>
          </a:p>
          <a:p>
            <a:pPr algn="ctr">
              <a:defRPr sz="1300" b="1">
                <a:solidFill>
                  <a:srgbClr val="1E2A43"/>
                </a:solidFill>
              </a:defRPr>
            </a:pPr>
            <a:r>
              <a:t>Arogya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64592"/>
            <a:ext cx="768096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100" b="1">
                <a:solidFill>
                  <a:srgbClr val="28588C"/>
                </a:solidFill>
                <a:latin typeface="Georgia"/>
              </a:defRPr>
            </a:pPr>
            <a:r>
              <a:t>IMPACT, CLINICAL BENEFITS &amp;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11430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t>@Sanjeevani-TeleHealth                                                                                                                                           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2120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06424"/>
            <a:ext cx="499262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A43"/>
                </a:solidFill>
                <a:latin typeface="Arial"/>
              </a:defRPr>
            </a:pPr>
            <a:r>
              <a:t>Potential Impact on Target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53895"/>
            <a:ext cx="4992624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80" b="1">
                <a:solidFill>
                  <a:srgbClr val="1E2A43"/>
                </a:solidFill>
              </a:rPr>
              <a:t>• Mountain Citizens &amp; Remote Villagers:
</a:t>
            </a:r>
          </a:p>
          <a:p>
            <a:pPr>
              <a:spcAft>
                <a:spcPts val="150"/>
              </a:spcAft>
            </a:pPr>
            <a:r>
              <a:rPr sz="800">
                <a:solidFill>
                  <a:srgbClr val="4E5B6E"/>
                </a:solidFill>
              </a:rPr>
              <a:t>    – Eliminates arduous 15-30 km treks over mountain cliffs for routine minor ailments.</a:t>
            </a:r>
          </a:p>
          <a:p>
            <a:pPr>
              <a:spcAft>
                <a:spcPts val="150"/>
              </a:spcAft>
            </a:pPr>
            <a:r>
              <a:rPr sz="800">
                <a:solidFill>
                  <a:srgbClr val="4E5B6E"/>
                </a:solidFill>
              </a:rPr>
              <a:t>    – Guarantees 24/7 clinical emergency assessment in their native mother tongue (Garhwali).</a:t>
            </a:r>
          </a:p>
          <a:p>
            <a:pPr>
              <a:spcAft>
                <a:spcPts val="150"/>
              </a:spcAft>
            </a:pPr>
            <a:r>
              <a:rPr sz="800">
                <a:solidFill>
                  <a:srgbClr val="4E5B6E"/>
                </a:solidFill>
              </a:rPr>
              <a:t>    – Reduces average household healthcare travel expenditure by ₹1,200 to ₹3,500 per episode.</a:t>
            </a:r>
          </a:p>
          <a:p>
            <a:pPr>
              <a:spcAft>
                <a:spcPts val="200"/>
              </a:spcAft>
            </a:pPr>
            <a:r>
              <a:rPr sz="880" b="1">
                <a:solidFill>
                  <a:srgbClr val="1E2A43"/>
                </a:solidFill>
              </a:rPr>
              <a:t>• ASHA Workers &amp; Primary Health Centers:
</a:t>
            </a:r>
          </a:p>
          <a:p>
            <a:pPr>
              <a:spcAft>
                <a:spcPts val="150"/>
              </a:spcAft>
            </a:pPr>
            <a:r>
              <a:rPr sz="800">
                <a:solidFill>
                  <a:srgbClr val="4E5B6E"/>
                </a:solidFill>
              </a:rPr>
              <a:t>    – Equips 1,000+ frontline health workers with non-invasive optical screening for Anemia/Jaundice.</a:t>
            </a:r>
          </a:p>
          <a:p>
            <a:pPr>
              <a:spcAft>
                <a:spcPts val="150"/>
              </a:spcAft>
            </a:pPr>
            <a:r>
              <a:rPr sz="800">
                <a:solidFill>
                  <a:srgbClr val="4E5B6E"/>
                </a:solidFill>
              </a:rPr>
              <a:t>    – Generates standardized HL7 FHIR referral cards, eliminating manual record-keeping errors.</a:t>
            </a:r>
          </a:p>
          <a:p>
            <a:pPr>
              <a:spcAft>
                <a:spcPts val="150"/>
              </a:spcAft>
            </a:pPr>
            <a:r>
              <a:rPr sz="800">
                <a:solidFill>
                  <a:srgbClr val="4E5B6E"/>
                </a:solidFill>
              </a:rPr>
              <a:t>    – Safely resolves mild routine cases, saving ~35% of PHC medical officer bandwidth.</a:t>
            </a:r>
          </a:p>
          <a:p>
            <a:pPr>
              <a:spcAft>
                <a:spcPts val="200"/>
              </a:spcAft>
            </a:pPr>
            <a:r>
              <a:rPr sz="880" b="1">
                <a:solidFill>
                  <a:srgbClr val="1E2A43"/>
                </a:solidFill>
              </a:rPr>
              <a:t>• District CMOs &amp; State Health Authorities:
</a:t>
            </a:r>
          </a:p>
          <a:p>
            <a:pPr>
              <a:spcAft>
                <a:spcPts val="150"/>
              </a:spcAft>
            </a:pPr>
            <a:r>
              <a:rPr sz="800">
                <a:solidFill>
                  <a:srgbClr val="4E5B6E"/>
                </a:solidFill>
              </a:rPr>
              <a:t>    – Live geospatial outbreak heatmaps pinpoint waterborne or respiratory clusters before spread.</a:t>
            </a:r>
          </a:p>
          <a:p>
            <a:pPr>
              <a:spcAft>
                <a:spcPts val="150"/>
              </a:spcAft>
            </a:pPr>
            <a:r>
              <a:rPr sz="800">
                <a:solidFill>
                  <a:srgbClr val="4E5B6E"/>
                </a:solidFill>
              </a:rPr>
              <a:t>    – Complete auditable chain of custody with Zero-PII compliance for state health monitoring.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617720"/>
            <a:ext cx="52120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4672583"/>
            <a:ext cx="499262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A43"/>
                </a:solidFill>
                <a:latin typeface="Arial"/>
              </a:defRPr>
            </a:pPr>
            <a:r>
              <a:t>Societal &amp; Economic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5020056"/>
            <a:ext cx="499262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19">
                <a:solidFill>
                  <a:srgbClr val="4E5B6E"/>
                </a:solidFill>
              </a:defRPr>
            </a:pPr>
            <a:r>
              <a:t>• Social Equality: Democratizes specialist triage to remote border villages, replacing hazardous folk superstitions with CCRAS-verified AYUSH remedies.</a:t>
            </a:r>
          </a:p>
          <a:p>
            <a:pPr>
              <a:defRPr sz="819">
                <a:solidFill>
                  <a:srgbClr val="4E5B6E"/>
                </a:solidFill>
              </a:defRPr>
            </a:pPr>
            <a:r>
              <a:t>• Healthcare Savings: Early detection of Yellow/Red tier symptoms saves district hospitals up to ₹45 Lakhs annually in preventable emergency room congestion.</a:t>
            </a:r>
          </a:p>
        </p:txBody>
      </p:sp>
      <p:pic>
        <p:nvPicPr>
          <p:cNvPr id="13" name="Picture 12" descr="sanjeevani_edge_vision_suite_1790389474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51560"/>
            <a:ext cx="6035040" cy="3429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760720" y="4572000"/>
            <a:ext cx="6035040" cy="1783080"/>
          </a:xfrm>
          <a:prstGeom prst="roundRect">
            <a:avLst/>
          </a:prstGeom>
          <a:solidFill>
            <a:srgbClr val="EEF3F8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spcAft>
                <a:spcPts val="400"/>
              </a:spcAft>
              <a:defRPr sz="950" b="1">
                <a:solidFill>
                  <a:srgbClr val="28588C"/>
                </a:solidFill>
              </a:defRPr>
            </a:pPr>
            <a:r>
              <a:t>🎯 TARGET OUTCOMES (12-MONTH UTTARAKHAND PILOT)</a:t>
            </a:r>
          </a:p>
          <a:p>
            <a:pPr>
              <a:spcAft>
                <a:spcPts val="200"/>
              </a:spcAft>
            </a:pPr>
            <a:r>
              <a:rPr sz="860" b="1">
                <a:solidFill>
                  <a:srgbClr val="1E2A43"/>
                </a:solidFill>
              </a:rPr>
              <a:t>• 45%+ — </a:t>
            </a:r>
            <a:r>
              <a:rPr sz="819">
                <a:solidFill>
                  <a:srgbClr val="4E5B6E"/>
                </a:solidFill>
              </a:rPr>
              <a:t>Reduction in unnecessary travel for routine non-emergency visits</a:t>
            </a:r>
          </a:p>
          <a:p>
            <a:pPr>
              <a:spcAft>
                <a:spcPts val="200"/>
              </a:spcAft>
            </a:pPr>
            <a:r>
              <a:rPr sz="860" b="1">
                <a:solidFill>
                  <a:srgbClr val="1E2A43"/>
                </a:solidFill>
              </a:rPr>
              <a:t>• &lt; 2s — </a:t>
            </a:r>
            <a:r>
              <a:rPr sz="819">
                <a:solidFill>
                  <a:srgbClr val="4E5B6E"/>
                </a:solidFill>
              </a:rPr>
              <a:t>Emergency Red-tier detection and 108 SOS ambulance dispatch trigger</a:t>
            </a:r>
          </a:p>
          <a:p>
            <a:pPr>
              <a:spcAft>
                <a:spcPts val="200"/>
              </a:spcAft>
            </a:pPr>
            <a:r>
              <a:rPr sz="860" b="1">
                <a:solidFill>
                  <a:srgbClr val="1E2A43"/>
                </a:solidFill>
              </a:rPr>
              <a:t>• 100% — </a:t>
            </a:r>
            <a:r>
              <a:rPr sz="819">
                <a:solidFill>
                  <a:srgbClr val="4E5B6E"/>
                </a:solidFill>
              </a:rPr>
              <a:t>Operational triage availability during monsoon network blackouts</a:t>
            </a:r>
          </a:p>
          <a:p>
            <a:pPr>
              <a:spcAft>
                <a:spcPts val="200"/>
              </a:spcAft>
            </a:pPr>
            <a:r>
              <a:rPr sz="860" b="1">
                <a:solidFill>
                  <a:srgbClr val="1E2A43"/>
                </a:solidFill>
              </a:rPr>
              <a:t>• 50+ — </a:t>
            </a:r>
            <a:r>
              <a:rPr sz="819">
                <a:solidFill>
                  <a:srgbClr val="4E5B6E"/>
                </a:solidFill>
              </a:rPr>
              <a:t>CCRAS validated Ayurvedic remedies with comorbidity safety screening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D2F60A2-41A6-ACAB-54FE-E77001627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170" y="2667"/>
            <a:ext cx="1914525" cy="962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6459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defRPr sz="1100" b="1">
                <a:solidFill>
                  <a:srgbClr val="4E5B6E"/>
                </a:solidFill>
              </a:defRPr>
            </a:pPr>
            <a:r>
              <a:rPr dirty="0"/>
              <a:t>Team</a:t>
            </a:r>
          </a:p>
          <a:p>
            <a:pPr algn="ctr">
              <a:defRPr sz="1300" b="1">
                <a:solidFill>
                  <a:srgbClr val="1E2A43"/>
                </a:solidFill>
              </a:defRPr>
            </a:pPr>
            <a:r>
              <a:rPr dirty="0"/>
              <a:t>Arogya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64592"/>
            <a:ext cx="768096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100" b="1">
                <a:solidFill>
                  <a:srgbClr val="28588C"/>
                </a:solidFill>
                <a:latin typeface="Georgia"/>
              </a:defRPr>
            </a:pPr>
            <a:r>
              <a:t>RESEARCH, CLINICAL REFERENCES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28816"/>
            <a:ext cx="11430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B6BA8"/>
                </a:solidFill>
              </a:defRPr>
            </a:pPr>
            <a:r>
              <a:t>@Sanjeevani-TeleHealth                                                                                                                                         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66928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06424"/>
            <a:ext cx="544982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A43"/>
                </a:solidFill>
                <a:latin typeface="Arial"/>
              </a:defRPr>
            </a:pPr>
            <a:r>
              <a:t>Peer-Reviewed Biomedical &amp; Algorithmic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53895"/>
            <a:ext cx="5449824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1E2A43"/>
                </a:solidFill>
              </a:rPr>
              <a:t>❑ Manchester Triage Group (BMJ Books / Wiley, 2014):
</a:t>
            </a:r>
            <a:r>
              <a:rPr sz="780">
                <a:solidFill>
                  <a:srgbClr val="4E5B6E"/>
                </a:solidFill>
              </a:rPr>
              <a:t>   ↳ Mackway-Jones et al. Foundational clinical protocol for Sanjeevani's 3-tier deterministic severity scoring (Red / Yellow / Green mapping).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A43"/>
                </a:solidFill>
              </a:rPr>
              <a:t>❑ Ministry of Ayush, Govt of India (CCRAS &amp; Pharmacopoeia):
</a:t>
            </a:r>
            <a:r>
              <a:rPr sz="780">
                <a:solidFill>
                  <a:srgbClr val="4E5B6E"/>
                </a:solidFill>
              </a:rPr>
              <a:t>   ↳ The Ayurvedic Pharmacopoeia of India (API). Clinical dosage, contraindications, and preparation standards for all 50+ classical remedies in Qdrant.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A43"/>
                </a:solidFill>
              </a:rPr>
              <a:t>❑ Nature Communications (Mannino et al., 2018):
</a:t>
            </a:r>
            <a:r>
              <a:rPr sz="780">
                <a:solidFill>
                  <a:srgbClr val="4E5B6E"/>
                </a:solidFill>
              </a:rPr>
              <a:t>   ↳ Smartphone app for non-invasive detection of anemia using optical imaging of palpebral conjunctiva. Underlying biomedical CV basis for Erythema Index (EI = a*/L*).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A43"/>
                </a:solidFill>
              </a:rPr>
              <a:t>❑ World Health Organization (WHO Digital Health, 2021):
</a:t>
            </a:r>
            <a:r>
              <a:rPr sz="780">
                <a:solidFill>
                  <a:srgbClr val="4E5B6E"/>
                </a:solidFill>
              </a:rPr>
              <a:t>   ↳ Recommendations on Digital Interventions for Health System Strengthening. Validates frontline ASHA decision-support and offline-first mobile sync.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A43"/>
                </a:solidFill>
              </a:rPr>
              <a:t>❑ National Health Authority (ABDM FHIR Release 4, 2023):
</a:t>
            </a:r>
            <a:r>
              <a:rPr sz="780">
                <a:solidFill>
                  <a:srgbClr val="4E5B6E"/>
                </a:solidFill>
              </a:rPr>
              <a:t>   ↳ Ayushman Bharat Digital Mission specifications for electronic referral payloads, role-based patient consent, and hospital EHR interoperability.</a:t>
            </a:r>
          </a:p>
          <a:p>
            <a:pPr>
              <a:spcAft>
                <a:spcPts val="300"/>
              </a:spcAft>
            </a:pPr>
            <a:r>
              <a:rPr sz="850" b="1">
                <a:solidFill>
                  <a:srgbClr val="1E2A43"/>
                </a:solidFill>
              </a:rPr>
              <a:t>❑ Sarvam AI &amp; Bhashini Project (MeitY, 2024):
</a:t>
            </a:r>
            <a:r>
              <a:rPr sz="780">
                <a:solidFill>
                  <a:srgbClr val="4E5B6E"/>
                </a:solidFill>
              </a:rPr>
              <a:t>   ↳ Indic Speech &amp; NLP Technologies for low-resource regional dialects. Benchmarks for Garhwali speech transcription and low-latency Indic acoustic voice synthesis.</a:t>
            </a:r>
          </a:p>
        </p:txBody>
      </p:sp>
      <p:pic>
        <p:nvPicPr>
          <p:cNvPr id="10" name="Picture 9" descr="sanjeevani_triage_flowchart_17903894316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577840" cy="3337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4480560"/>
            <a:ext cx="557784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1B6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4535424"/>
            <a:ext cx="5358383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2A43"/>
                </a:solidFill>
                <a:latin typeface="Arial"/>
              </a:defRPr>
            </a:pPr>
            <a:r>
              <a:t>Clinical Governance &amp; Ethical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4882896"/>
            <a:ext cx="5358383" cy="1417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19" b="1">
                <a:solidFill>
                  <a:srgbClr val="28588C"/>
                </a:solidFill>
              </a:rPr>
              <a:t>• Clinical Decision Support (Not Independent Diagnosis): </a:t>
            </a:r>
            <a:r>
              <a:rPr sz="780">
                <a:solidFill>
                  <a:srgbClr val="4E5B6E"/>
                </a:solidFill>
              </a:rPr>
              <a:t>Sanjeevani is engineered as clinical decision support for ASHAs and citizens, explicitly watermarked with PHC referral instructions.</a:t>
            </a:r>
          </a:p>
          <a:p>
            <a:pPr>
              <a:spcAft>
                <a:spcPts val="200"/>
              </a:spcAft>
            </a:pPr>
            <a:r>
              <a:rPr sz="819" b="1">
                <a:solidFill>
                  <a:srgbClr val="BA4A3D"/>
                </a:solidFill>
              </a:rPr>
              <a:t>• Deterministic Pre-LLM Safety Net: </a:t>
            </a:r>
            <a:r>
              <a:rPr sz="780">
                <a:solidFill>
                  <a:srgbClr val="4E5B6E"/>
                </a:solidFill>
              </a:rPr>
              <a:t>Urgency is classified by deterministic rules before any generative model is called, eliminating risk of LLM hallucinatory reassurance in acute crises.</a:t>
            </a:r>
          </a:p>
          <a:p>
            <a:pPr>
              <a:spcAft>
                <a:spcPts val="200"/>
              </a:spcAft>
            </a:pPr>
            <a:r>
              <a:rPr sz="819" b="1">
                <a:solidFill>
                  <a:srgbClr val="28588C"/>
                </a:solidFill>
              </a:rPr>
              <a:t>• Data Privacy &amp; Consent: </a:t>
            </a:r>
            <a:r>
              <a:rPr sz="780">
                <a:solidFill>
                  <a:srgbClr val="4E5B6E"/>
                </a:solidFill>
              </a:rPr>
              <a:t>Full compliance with DISHA &amp; Digital Personal Data Protection (DPDP) Act with zero cloud upload of biometric images.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FA5A70-BE4B-009F-9ED5-6AF1D2FA6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0625" y="-1905"/>
            <a:ext cx="1914525" cy="9620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1417</Words>
  <Application>Microsoft Office PowerPoint</Application>
  <PresentationFormat>Widescreen</PresentationFormat>
  <Paragraphs>106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Singh</cp:lastModifiedBy>
  <cp:revision>3</cp:revision>
  <dcterms:created xsi:type="dcterms:W3CDTF">2013-01-27T09:14:16Z</dcterms:created>
  <dcterms:modified xsi:type="dcterms:W3CDTF">2026-09-26T05:17:50Z</dcterms:modified>
  <cp:category/>
</cp:coreProperties>
</file>