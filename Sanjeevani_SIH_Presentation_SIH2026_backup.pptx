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30752" y="457200"/>
            <a:ext cx="7311297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3200" b="1">
                <a:solidFill>
                  <a:srgbClr val="28588C"/>
                </a:solidFill>
                <a:latin typeface="Georgia"/>
              </a:defRPr>
            </a:pPr>
            <a:r>
              <a:rPr dirty="0"/>
              <a:t>SMART INDIA HACKATHON 202</a:t>
            </a:r>
            <a:r>
              <a:rPr lang="en-IN" dirty="0"/>
              <a:t>6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2800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 dirty="0">
                <a:solidFill>
                  <a:srgbClr val="1A2333"/>
                </a:solidFill>
                <a:latin typeface="Arial"/>
              </a:rPr>
              <a:t>•  Problem Statement ID - </a:t>
            </a:r>
            <a:r>
              <a:rPr lang="en-IN" sz="1400" b="1" dirty="0">
                <a:solidFill>
                  <a:srgbClr val="28588C"/>
                </a:solidFill>
                <a:latin typeface="Arial"/>
              </a:rPr>
              <a:t>SIH26133</a:t>
            </a:r>
          </a:p>
          <a:p>
            <a:pPr>
              <a:spcAft>
                <a:spcPts val="1400"/>
              </a:spcAft>
            </a:pPr>
            <a:r>
              <a:rPr sz="1400" b="1" dirty="0">
                <a:solidFill>
                  <a:srgbClr val="1A2333"/>
                </a:solidFill>
                <a:latin typeface="Arial"/>
              </a:rPr>
              <a:t>•  Problem Statement Title- </a:t>
            </a:r>
            <a:r>
              <a:rPr lang="en-US" sz="1400" b="1" dirty="0">
                <a:solidFill>
                  <a:srgbClr val="28588C"/>
                </a:solidFill>
                <a:latin typeface="Arial"/>
              </a:rPr>
              <a:t>Accessibility and quality of public healthcare services, particularly in rural and underserved areas</a:t>
            </a:r>
          </a:p>
          <a:p>
            <a:pPr>
              <a:spcAft>
                <a:spcPts val="1400"/>
              </a:spcAft>
            </a:pPr>
            <a:r>
              <a:rPr lang="en-US" sz="1400" b="1" dirty="0">
                <a:solidFill>
                  <a:srgbClr val="1A2333"/>
                </a:solidFill>
                <a:latin typeface="Arial"/>
              </a:rPr>
              <a:t>•  Theme- </a:t>
            </a:r>
            <a:r>
              <a:rPr lang="en-US" sz="1400" b="1" dirty="0">
                <a:solidFill>
                  <a:schemeClr val="tx2"/>
                </a:solidFill>
                <a:latin typeface="Arial"/>
              </a:rPr>
              <a:t>Healthcare &amp; Biomedical Technology / Rural Development</a:t>
            </a:r>
          </a:p>
          <a:p>
            <a:pPr>
              <a:spcAft>
                <a:spcPts val="1400"/>
              </a:spcAft>
            </a:pPr>
            <a:r>
              <a:rPr sz="1400" b="1" dirty="0">
                <a:solidFill>
                  <a:srgbClr val="1A2333"/>
                </a:solidFill>
                <a:latin typeface="Arial"/>
              </a:rPr>
              <a:t>•  PS Category- </a:t>
            </a:r>
            <a:r>
              <a:rPr sz="1400" b="1" dirty="0">
                <a:solidFill>
                  <a:schemeClr val="tx2"/>
                </a:solidFill>
                <a:latin typeface="Arial"/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sz="1400" b="1" dirty="0">
                <a:solidFill>
                  <a:srgbClr val="1A2333"/>
                </a:solidFill>
                <a:latin typeface="Arial"/>
              </a:rPr>
              <a:t>•  Team ID- </a:t>
            </a:r>
            <a:r>
              <a:rPr sz="1400" b="1" dirty="0">
                <a:solidFill>
                  <a:schemeClr val="tx2"/>
                </a:solidFill>
                <a:latin typeface="Arial"/>
              </a:rPr>
              <a:t>107139</a:t>
            </a:r>
          </a:p>
          <a:p>
            <a:pPr>
              <a:spcAft>
                <a:spcPts val="1400"/>
              </a:spcAft>
            </a:pPr>
            <a:r>
              <a:rPr sz="1400" b="1" dirty="0">
                <a:solidFill>
                  <a:srgbClr val="1A2333"/>
                </a:solidFill>
                <a:latin typeface="Arial"/>
              </a:rPr>
              <a:t>•  Team Name:- </a:t>
            </a:r>
            <a:r>
              <a:rPr lang="en-IN" sz="1400" b="1" dirty="0">
                <a:solidFill>
                  <a:schemeClr val="tx2"/>
                </a:solidFill>
                <a:latin typeface="Arial"/>
              </a:rPr>
              <a:t>Arogya</a:t>
            </a:r>
            <a:endParaRPr sz="1400" b="1" dirty="0">
              <a:solidFill>
                <a:schemeClr val="tx2"/>
              </a:solidFill>
              <a:latin typeface="Arial"/>
            </a:endParaRPr>
          </a:p>
          <a:p>
            <a:pPr>
              <a:spcAft>
                <a:spcPts val="1400"/>
              </a:spcAft>
            </a:pPr>
            <a:r>
              <a:rPr sz="1400" b="1" dirty="0">
                <a:solidFill>
                  <a:srgbClr val="1A2333"/>
                </a:solidFill>
                <a:latin typeface="Arial"/>
              </a:rPr>
              <a:t>•  Project Name:- </a:t>
            </a:r>
            <a:r>
              <a:rPr sz="1400" b="1" dirty="0">
                <a:solidFill>
                  <a:schemeClr val="tx2"/>
                </a:solidFill>
                <a:latin typeface="Arial"/>
              </a:rPr>
              <a:t>Sanjeevani</a:t>
            </a:r>
          </a:p>
        </p:txBody>
      </p:sp>
      <p:pic>
        <p:nvPicPr>
          <p:cNvPr id="7" name="Picture 6" descr="SIH_2026_logo_upsca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920240" cy="9601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096F0E-1802-7D09-7D4A-A47B282AA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311" y="1645920"/>
            <a:ext cx="3330567" cy="39319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88EEF7-AEF6-DD41-0537-20D62934F578}"/>
              </a:ext>
            </a:extLst>
          </p:cNvPr>
          <p:cNvSpPr txBox="1"/>
          <p:nvPr/>
        </p:nvSpPr>
        <p:spPr>
          <a:xfrm>
            <a:off x="365760" y="6510528"/>
            <a:ext cx="5097549" cy="1461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B6BA8"/>
                </a:solidFill>
              </a:defRPr>
            </a:pPr>
            <a:r>
              <a:rPr dirty="0"/>
              <a:t>@Sanjeevani-TeleHealth                                                                                                                                           </a:t>
            </a:r>
            <a:r>
              <a:rPr lang="en-IN" dirty="0"/>
              <a:t>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18288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200" b="1">
                <a:solidFill>
                  <a:srgbClr val="1E2A43"/>
                </a:solidFill>
              </a:defRPr>
            </a:pPr>
            <a:r>
              <a:rPr lang="en-IN" sz="1200" b="1" dirty="0">
                <a:solidFill>
                  <a:schemeClr val="tx2"/>
                </a:solidFill>
                <a:latin typeface="Arial"/>
              </a:rPr>
              <a:t>Arogya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103120" y="164592"/>
            <a:ext cx="7680960" cy="777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200" b="1">
                <a:solidFill>
                  <a:srgbClr val="28588C"/>
                </a:solidFill>
                <a:latin typeface="Georgia"/>
              </a:defRPr>
            </a:pPr>
            <a:r>
              <a:t>Sanjeevani: AI Platform for Verifiable Himalayan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B6BA8"/>
                </a:solidFill>
              </a:defRPr>
            </a:pPr>
            <a:r>
              <a:t>@Sanjeevani-TeleHealth                                                                                                                                           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57784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124712"/>
            <a:ext cx="535838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u="sng">
                <a:solidFill>
                  <a:srgbClr val="1E2A43"/>
                </a:solidFill>
                <a:latin typeface="Arial"/>
              </a:defRPr>
            </a:pPr>
            <a:r>
              <a:t>Detailed explanation of the proposed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490472"/>
            <a:ext cx="5321807" cy="4809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1A2333"/>
                </a:solidFill>
              </a:defRPr>
            </a:pPr>
            <a:r>
              <a:rPr dirty="0"/>
              <a:t>An autonomous, dialect-aware tele-triage and clinical decision platform that digitizes and secures primary healthcare delivery across remote mountain terrains.</a:t>
            </a:r>
          </a:p>
          <a:p>
            <a:pPr>
              <a:spcAft>
                <a:spcPts val="800"/>
              </a:spcAft>
              <a:defRPr sz="950">
                <a:solidFill>
                  <a:srgbClr val="1A2333"/>
                </a:solidFill>
              </a:defRPr>
            </a:pPr>
            <a:r>
              <a:rPr dirty="0"/>
              <a:t>It ensures diagnostic accuracy, cultural safety, and real-time visibility through Manchester Triage protocols, AYUSH safety guardrails, and AI analytics.</a:t>
            </a:r>
          </a:p>
          <a:p>
            <a:pPr>
              <a:spcAft>
                <a:spcPts val="400"/>
              </a:spcAft>
            </a:pPr>
            <a:r>
              <a:rPr sz="880" b="1" dirty="0">
                <a:solidFill>
                  <a:srgbClr val="1E2A43"/>
                </a:solidFill>
              </a:rPr>
              <a:t>•  Autonomous clinical triage app </a:t>
            </a:r>
            <a:r>
              <a:rPr sz="880" dirty="0">
                <a:solidFill>
                  <a:srgbClr val="4E5B6E"/>
                </a:solidFill>
              </a:rPr>
              <a:t>designed for high-altitude villages and ASHA workers to operate in rugged, low-connectivity terrains.</a:t>
            </a:r>
          </a:p>
          <a:p>
            <a:pPr>
              <a:spcAft>
                <a:spcPts val="400"/>
              </a:spcAft>
            </a:pPr>
            <a:r>
              <a:rPr sz="880" b="1" dirty="0">
                <a:solidFill>
                  <a:srgbClr val="1E2A43"/>
                </a:solidFill>
              </a:rPr>
              <a:t>•  Conversational </a:t>
            </a:r>
            <a:r>
              <a:rPr lang="en-IN" sz="880" b="1" dirty="0">
                <a:solidFill>
                  <a:srgbClr val="1E2A43"/>
                </a:solidFill>
              </a:rPr>
              <a:t>Garhwali</a:t>
            </a:r>
            <a:r>
              <a:rPr sz="880" b="1" dirty="0">
                <a:solidFill>
                  <a:srgbClr val="1E2A43"/>
                </a:solidFill>
              </a:rPr>
              <a:t> dialect engine </a:t>
            </a:r>
            <a:r>
              <a:rPr sz="880" dirty="0">
                <a:solidFill>
                  <a:srgbClr val="4E5B6E"/>
                </a:solidFill>
              </a:rPr>
              <a:t>with auto-phonetic normalization and sub-50ms streaming Indic voice synthesis.</a:t>
            </a:r>
          </a:p>
          <a:p>
            <a:pPr>
              <a:spcAft>
                <a:spcPts val="400"/>
              </a:spcAft>
            </a:pPr>
            <a:r>
              <a:rPr sz="880" b="1" dirty="0">
                <a:solidFill>
                  <a:srgbClr val="1E2A43"/>
                </a:solidFill>
              </a:rPr>
              <a:t>•  Evidence-based AYUSH &amp; CCRAS integration </a:t>
            </a:r>
            <a:r>
              <a:rPr sz="880" dirty="0">
                <a:solidFill>
                  <a:srgbClr val="4E5B6E"/>
                </a:solidFill>
              </a:rPr>
              <a:t>providing verified classical home remedies backed by an in-memory Safety Matrix blocking contraindications.</a:t>
            </a:r>
          </a:p>
          <a:p>
            <a:pPr>
              <a:spcAft>
                <a:spcPts val="400"/>
              </a:spcAft>
            </a:pPr>
            <a:r>
              <a:rPr sz="880" b="1" dirty="0">
                <a:solidFill>
                  <a:srgbClr val="1E2A43"/>
                </a:solidFill>
              </a:rPr>
              <a:t>•  Non-invasive Computer Vision screening </a:t>
            </a:r>
            <a:r>
              <a:rPr sz="880" dirty="0">
                <a:solidFill>
                  <a:srgbClr val="4E5B6E"/>
                </a:solidFill>
              </a:rPr>
              <a:t>detecting palpebral conjunctiva anemia, scleral jaundice, and oral leukoplakia with Gray-World lighting correction.</a:t>
            </a:r>
          </a:p>
          <a:p>
            <a:pPr>
              <a:spcAft>
                <a:spcPts val="400"/>
              </a:spcAft>
            </a:pPr>
            <a:r>
              <a:rPr sz="880" b="1" dirty="0">
                <a:solidFill>
                  <a:srgbClr val="1E2A43"/>
                </a:solidFill>
              </a:rPr>
              <a:t>•  Offline-first architecture with SQLite WAL </a:t>
            </a:r>
            <a:r>
              <a:rPr sz="880" dirty="0">
                <a:solidFill>
                  <a:srgbClr val="4E5B6E"/>
                </a:solidFill>
              </a:rPr>
              <a:t>enabling complete offline triage with background auto-sync upon network availability.</a:t>
            </a:r>
          </a:p>
          <a:p>
            <a:pPr>
              <a:spcAft>
                <a:spcPts val="400"/>
              </a:spcAft>
            </a:pPr>
            <a:r>
              <a:rPr sz="880" b="1" dirty="0">
                <a:solidFill>
                  <a:srgbClr val="1E2A43"/>
                </a:solidFill>
              </a:rPr>
              <a:t>•  Supervisor and CMO epidemiological dashboard </a:t>
            </a:r>
            <a:r>
              <a:rPr sz="880" dirty="0">
                <a:solidFill>
                  <a:srgbClr val="4E5B6E"/>
                </a:solidFill>
              </a:rPr>
              <a:t>providing live village health heatmaps, outbreak alerts, and FHIR standard referral summaries.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51560"/>
            <a:ext cx="5669280" cy="2514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36208" y="1124712"/>
            <a:ext cx="544982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u="sng">
                <a:solidFill>
                  <a:srgbClr val="1E2A43"/>
                </a:solidFill>
                <a:latin typeface="Arial"/>
              </a:defRPr>
            </a:pPr>
            <a:r>
              <a:t>How it addresses 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496" y="1490472"/>
            <a:ext cx="5413248" cy="1477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60" b="1" dirty="0">
                <a:solidFill>
                  <a:srgbClr val="1E2A43"/>
                </a:solidFill>
              </a:rPr>
              <a:t>•  Eliminates healthcare distance barriers </a:t>
            </a:r>
            <a:r>
              <a:rPr sz="860" dirty="0">
                <a:solidFill>
                  <a:srgbClr val="4E5B6E"/>
                </a:solidFill>
              </a:rPr>
              <a:t>in steep terrain where villagers hike 15–30 km to reach Primary Health Centers.</a:t>
            </a:r>
          </a:p>
          <a:p>
            <a:pPr>
              <a:spcAft>
                <a:spcPts val="300"/>
              </a:spcAft>
            </a:pPr>
            <a:r>
              <a:rPr sz="860" b="1" dirty="0">
                <a:solidFill>
                  <a:srgbClr val="1E2A43"/>
                </a:solidFill>
              </a:rPr>
              <a:t>•  Enables instant emergency escalation </a:t>
            </a:r>
            <a:r>
              <a:rPr sz="860" dirty="0">
                <a:solidFill>
                  <a:srgbClr val="4E5B6E"/>
                </a:solidFill>
              </a:rPr>
              <a:t>classifying Red-tier conditions (stroke, cardiac crisis) in &lt;2s and initiating 1-tap 108 SOS dispatch.</a:t>
            </a:r>
          </a:p>
          <a:p>
            <a:pPr>
              <a:spcAft>
                <a:spcPts val="300"/>
              </a:spcAft>
            </a:pPr>
            <a:r>
              <a:rPr sz="860" b="1" dirty="0">
                <a:solidFill>
                  <a:srgbClr val="1E2A43"/>
                </a:solidFill>
              </a:rPr>
              <a:t>•  Prevents tertiary hospital overcrowding </a:t>
            </a:r>
            <a:r>
              <a:rPr sz="860" dirty="0">
                <a:solidFill>
                  <a:srgbClr val="4E5B6E"/>
                </a:solidFill>
              </a:rPr>
              <a:t>by resolving ~45% of mild routine symptoms safely with verified AYUSH home care.</a:t>
            </a:r>
          </a:p>
          <a:p>
            <a:pPr>
              <a:spcAft>
                <a:spcPts val="300"/>
              </a:spcAft>
            </a:pPr>
            <a:r>
              <a:rPr sz="860" b="1" dirty="0">
                <a:solidFill>
                  <a:srgbClr val="1E2A43"/>
                </a:solidFill>
              </a:rPr>
              <a:t>•  Overcomes low literacy and language barriers </a:t>
            </a:r>
            <a:r>
              <a:rPr sz="860" dirty="0">
                <a:solidFill>
                  <a:srgbClr val="4E5B6E"/>
                </a:solidFill>
              </a:rPr>
              <a:t>via hands-free </a:t>
            </a:r>
            <a:r>
              <a:rPr lang="en-IN" sz="860" dirty="0">
                <a:solidFill>
                  <a:srgbClr val="4E5B6E"/>
                </a:solidFill>
              </a:rPr>
              <a:t>Regional</a:t>
            </a:r>
            <a:r>
              <a:rPr sz="860" dirty="0">
                <a:solidFill>
                  <a:srgbClr val="4E5B6E"/>
                </a:solidFill>
              </a:rPr>
              <a:t>/Hindi voice interaction with zero medical jargon.</a:t>
            </a:r>
          </a:p>
          <a:p>
            <a:pPr>
              <a:spcAft>
                <a:spcPts val="300"/>
              </a:spcAft>
            </a:pPr>
            <a:r>
              <a:rPr sz="860" b="1" dirty="0">
                <a:solidFill>
                  <a:srgbClr val="1E2A43"/>
                </a:solidFill>
              </a:rPr>
              <a:t>•  Guarantees healthcare continuity during disasters </a:t>
            </a:r>
            <a:r>
              <a:rPr sz="860" dirty="0">
                <a:solidFill>
                  <a:srgbClr val="4E5B6E"/>
                </a:solidFill>
              </a:rPr>
              <a:t>functioning reliably during monsoons, landslides, and optical fiber breaks.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703320"/>
            <a:ext cx="566928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8" y="3776472"/>
            <a:ext cx="544982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u="sng">
                <a:solidFill>
                  <a:srgbClr val="1E2A43"/>
                </a:solidFill>
                <a:latin typeface="Arial"/>
              </a:defRPr>
            </a:pPr>
            <a:r>
              <a:t>Innovation and Uniqueness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4142231"/>
            <a:ext cx="5413248" cy="2157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60" b="1">
                <a:solidFill>
                  <a:srgbClr val="1E2A43"/>
                </a:solidFill>
              </a:rPr>
              <a:t>•  Deterministic Safety Knowledge Graph </a:t>
            </a:r>
            <a:r>
              <a:rPr sz="860">
                <a:solidFill>
                  <a:srgbClr val="4E5B6E"/>
                </a:solidFill>
              </a:rPr>
              <a:t>programmatically vetoes hazardous herb-comorbidity interactions (licorice in hypertension, ginger in ulcers).</a:t>
            </a:r>
          </a:p>
          <a:p>
            <a:pPr>
              <a:spcAft>
                <a:spcPts val="300"/>
              </a:spcAft>
            </a:pPr>
            <a:r>
              <a:rPr sz="860" b="1">
                <a:solidFill>
                  <a:srgbClr val="1E2A43"/>
                </a:solidFill>
              </a:rPr>
              <a:t>•  Gray-World Adaptive White Balance CV </a:t>
            </a:r>
            <a:r>
              <a:rPr sz="860">
                <a:solidFill>
                  <a:srgbClr val="4E5B6E"/>
                </a:solidFill>
              </a:rPr>
              <a:t>normalizes extreme Himalayan lighting disparities (glacier UV glare vs dim stone huts).</a:t>
            </a:r>
          </a:p>
          <a:p>
            <a:pPr>
              <a:spcAft>
                <a:spcPts val="300"/>
              </a:spcAft>
            </a:pPr>
            <a:r>
              <a:rPr sz="860" b="1">
                <a:solidFill>
                  <a:srgbClr val="1E2A43"/>
                </a:solidFill>
              </a:rPr>
              <a:t>•  Dual-Layer Offline Triage Pipeline </a:t>
            </a:r>
            <a:r>
              <a:rPr sz="860">
                <a:solidFill>
                  <a:srgbClr val="4E5B6E"/>
                </a:solidFill>
              </a:rPr>
              <a:t>combines client-side local rule decision trees with central LangGraph cloud intelligence.</a:t>
            </a:r>
          </a:p>
          <a:p>
            <a:pPr>
              <a:spcAft>
                <a:spcPts val="300"/>
              </a:spcAft>
            </a:pPr>
            <a:r>
              <a:rPr sz="860" b="1">
                <a:solidFill>
                  <a:srgbClr val="1E2A43"/>
                </a:solidFill>
              </a:rPr>
              <a:t>•  Sub-50ms Pre-Cached Dialect Audio </a:t>
            </a:r>
            <a:r>
              <a:rPr sz="860">
                <a:solidFill>
                  <a:srgbClr val="4E5B6E"/>
                </a:solidFill>
              </a:rPr>
              <a:t>delivers immediate spoken responses even on degraded 2G mobile data connections.</a:t>
            </a:r>
          </a:p>
          <a:p>
            <a:pPr>
              <a:spcAft>
                <a:spcPts val="300"/>
              </a:spcAft>
            </a:pPr>
            <a:r>
              <a:rPr sz="860" b="1">
                <a:solidFill>
                  <a:srgbClr val="1E2A43"/>
                </a:solidFill>
              </a:rPr>
              <a:t>•  HL7 FHIR v4.0.1 Interoperability </a:t>
            </a:r>
            <a:r>
              <a:rPr sz="860">
                <a:solidFill>
                  <a:srgbClr val="4E5B6E"/>
                </a:solidFill>
              </a:rPr>
              <a:t>generates standardized electronic referral records ready for direct ABDM ingest.</a:t>
            </a:r>
          </a:p>
        </p:txBody>
      </p:sp>
      <p:pic>
        <p:nvPicPr>
          <p:cNvPr id="16" name="Picture 15" descr="SIH_2026_logo_upsca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37160"/>
            <a:ext cx="182880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18288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200" b="1">
                <a:solidFill>
                  <a:srgbClr val="1E2A43"/>
                </a:solidFill>
              </a:defRPr>
            </a:pPr>
            <a:r>
              <a:rPr lang="en-IN" sz="1200" b="1" dirty="0">
                <a:solidFill>
                  <a:schemeClr val="tx2"/>
                </a:solidFill>
                <a:latin typeface="Arial"/>
              </a:rPr>
              <a:t>Arogya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103120" y="164592"/>
            <a:ext cx="7680960" cy="777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200" b="1">
                <a:solidFill>
                  <a:srgbClr val="28588C"/>
                </a:solidFill>
                <a:latin typeface="Georgia"/>
              </a:defRPr>
            </a:pPr>
            <a:r>
              <a:t>TECHNICAL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B6BA8"/>
                </a:solidFill>
              </a:defRPr>
            </a:pPr>
            <a:r>
              <a:t>@Sanjeevani-TeleHealth                                                                                                                                           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47472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124712"/>
            <a:ext cx="325526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u="sng">
                <a:solidFill>
                  <a:srgbClr val="1E2A43"/>
                </a:solidFill>
                <a:latin typeface="Arial"/>
              </a:defRPr>
            </a:pPr>
            <a:r>
              <a:t>Tech Stack for Mobile App and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490472"/>
            <a:ext cx="3218687" cy="4809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1E2A43"/>
                </a:solidFill>
              </a:defRPr>
            </a:pPr>
            <a:r>
              <a:t>Modular, High-Performance Stack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A43"/>
                </a:solidFill>
              </a:rPr>
              <a:t>• Client Application:
</a:t>
            </a:r>
            <a:r>
              <a:rPr sz="819">
                <a:solidFill>
                  <a:srgbClr val="4E5B6E"/>
                </a:solidFill>
              </a:rPr>
              <a:t>PWA (React 18, Vite), Tailwind CSS, MediaPipe FaceMesh/Pose, Web Workers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A43"/>
                </a:solidFill>
              </a:rPr>
              <a:t>• Backend API Core:
</a:t>
            </a:r>
            <a:r>
              <a:rPr sz="819">
                <a:solidFill>
                  <a:srgbClr val="4E5B6E"/>
                </a:solidFill>
              </a:rPr>
              <a:t>FastAPI (Async Python 3.13), LangGraph Multi-Agent, SQLAlchemy, Uvicorn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A43"/>
                </a:solidFill>
              </a:rPr>
              <a:t>• AI &amp; Speech Engine:
</a:t>
            </a:r>
            <a:r>
              <a:rPr sz="819">
                <a:solidFill>
                  <a:srgbClr val="4E5B6E"/>
                </a:solidFill>
              </a:rPr>
              <a:t>Sarvam AI (Indic STT &amp; Bulbul TTS), Gemini Flash / Sarvam-2B, ChromaDB RAG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A43"/>
                </a:solidFill>
              </a:rPr>
              <a:t>• Database &amp; Caching:
</a:t>
            </a:r>
            <a:r>
              <a:rPr sz="819">
                <a:solidFill>
                  <a:srgbClr val="4E5B6E"/>
                </a:solidFill>
              </a:rPr>
              <a:t>SQLite in WAL mode (thread-safe concurrent sync), In-Memory Audio LRU Cache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A43"/>
                </a:solidFill>
              </a:rPr>
              <a:t>• CV Pipeline:
</a:t>
            </a:r>
            <a:r>
              <a:rPr sz="819">
                <a:solidFill>
                  <a:srgbClr val="4E5B6E"/>
                </a:solidFill>
              </a:rPr>
              <a:t>OpenCV, NumPy, Gray-World White Balance, CIELAB color thresholding, CLAHE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A43"/>
                </a:solidFill>
              </a:rPr>
              <a:t>• Standards:
</a:t>
            </a:r>
            <a:r>
              <a:rPr sz="819">
                <a:solidFill>
                  <a:srgbClr val="4E5B6E"/>
                </a:solidFill>
              </a:rPr>
              <a:t>HL7 FHIR Release 4, ABDM Electronic Health Record standards, Zero-PII Audit Log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051560"/>
            <a:ext cx="777240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33088" y="1124712"/>
            <a:ext cx="75529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u="sng">
                <a:solidFill>
                  <a:srgbClr val="1E2A43"/>
                </a:solidFill>
                <a:latin typeface="Arial"/>
              </a:defRPr>
            </a:pPr>
            <a:r>
              <a:t>System Architecture &amp; Prototype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1376" y="1490472"/>
            <a:ext cx="7516368" cy="4809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1E2A43"/>
                </a:solidFill>
              </a:defRPr>
            </a:pPr>
            <a:r>
              <a:t>Seamless Pipeline: Multimodal Edge Input → Multi-Agent Triage → Verified Clinical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691640"/>
            <a:ext cx="740664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1B6BA8"/>
                </a:solidFill>
              </a:defRPr>
            </a:pPr>
            <a:r>
              <a:t>1. Multimodal Edge Capture  |  Patient speaks in Garhwali or Hindi, or ASHA uploads camera scan</a:t>
            </a:r>
          </a:p>
          <a:p>
            <a:pPr>
              <a:defRPr sz="819">
                <a:solidFill>
                  <a:srgbClr val="4E5B6E"/>
                </a:solidFill>
              </a:defRPr>
            </a:pPr>
            <a:r>
              <a:t>• Sarvam Indic STT converts audio into normalized Devanagari text.</a:t>
            </a:r>
            <a:br/>
            <a:r>
              <a:t>• Dialect transliteration engine decodes Romanized Garhwali idioms.</a:t>
            </a:r>
            <a:br/>
            <a:r>
              <a:t>• Optical camera module captures palpebral conjunctiva/sclera under Gray World white-balance.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2862072"/>
            <a:ext cx="740664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7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4C7348"/>
                </a:solidFill>
              </a:defRPr>
            </a:pPr>
            <a:r>
              <a:t>2. LangGraph Agentic Triage  |  Stateful Multi-Agent Clinical Evaluation</a:t>
            </a:r>
          </a:p>
          <a:p>
            <a:pPr>
              <a:defRPr sz="819">
                <a:solidFill>
                  <a:srgbClr val="4E5B6E"/>
                </a:solidFill>
              </a:defRPr>
            </a:pPr>
            <a:r>
              <a:t>• Node 1 (Triage Evaluator): Executes Manchester Triage Matrix &amp; ESI severity scoring.</a:t>
            </a:r>
            <a:br/>
            <a:r>
              <a:t>• Node 2 (Safety Guard): Checks patient comorbidities against Safety Knowledge Graph.</a:t>
            </a:r>
            <a:br/>
            <a:r>
              <a:t>• Node 3 (Remedy Matcher): ChromaDB vector search retrieves verified CCRAS home remedies.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4032504"/>
            <a:ext cx="740664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BA4A3D"/>
                </a:solidFill>
              </a:defRPr>
            </a:pPr>
            <a:r>
              <a:t>3. Clinical Verification &amp; Output  |  Strict Deterministic Delivery Protocol</a:t>
            </a:r>
          </a:p>
          <a:p>
            <a:pPr>
              <a:defRPr sz="819">
                <a:solidFill>
                  <a:srgbClr val="4E5B6E"/>
                </a:solidFill>
              </a:defRPr>
            </a:pPr>
            <a:r>
              <a:t>• Green Tier: Safe AYUSH preparation steps + dosage + lifestyle wellness guidance.</a:t>
            </a:r>
            <a:br/>
            <a:r>
              <a:t>• Yellow Tier: Scheduled 24h Primary Health Center tele-referral with doctor notification.</a:t>
            </a:r>
            <a:br/>
            <a:r>
              <a:t>• Red Tier: Immediate high-priority siren, 108 ambulance dispatch, GPS facility mapping.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5202936"/>
            <a:ext cx="740664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8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C68D3E"/>
                </a:solidFill>
              </a:defRPr>
            </a:pPr>
            <a:r>
              <a:t>4. Sync &amp; Government Integration  |  Offline Persistence &amp; National ABDM Standard</a:t>
            </a:r>
          </a:p>
          <a:p>
            <a:pPr>
              <a:defRPr sz="819">
                <a:solidFill>
                  <a:srgbClr val="4E5B6E"/>
                </a:solidFill>
              </a:defRPr>
            </a:pPr>
            <a:r>
              <a:t>• In offline mode, client-side decision trees provide uninterrupted emergency triage.</a:t>
            </a:r>
            <a:br/>
            <a:r>
              <a:t>• SQLite WAL mode processes concurrent batched sync from ASHA field workers.</a:t>
            </a:r>
            <a:br/>
            <a:r>
              <a:t>• Formats FHIR JSON clinical encounter documents for state health authorities.</a:t>
            </a:r>
          </a:p>
        </p:txBody>
      </p:sp>
      <p:pic>
        <p:nvPicPr>
          <p:cNvPr id="17" name="Picture 16" descr="SIH_2026_logo_upsca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37160"/>
            <a:ext cx="182880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18288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200" b="1">
                <a:solidFill>
                  <a:srgbClr val="1E2A43"/>
                </a:solidFill>
              </a:defRPr>
            </a:pPr>
            <a:r>
              <a:rPr lang="en-IN" sz="1200" b="1" dirty="0">
                <a:solidFill>
                  <a:schemeClr val="tx2"/>
                </a:solidFill>
                <a:latin typeface="Arial"/>
              </a:rPr>
              <a:t>Arogya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103120" y="164592"/>
            <a:ext cx="7680960" cy="777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200" b="1">
                <a:solidFill>
                  <a:srgbClr val="28588C"/>
                </a:solidFill>
                <a:latin typeface="Georgia"/>
              </a:defRPr>
            </a:pPr>
            <a:r>
              <a:t>FEASIBILITY AND VIABILITY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B6BA8"/>
                </a:solidFill>
              </a:defRPr>
            </a:pPr>
            <a:r>
              <a:t>@Sanjeevani-TeleHealth                                                                                                                                           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1143000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124712"/>
            <a:ext cx="112105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u="sng">
                <a:solidFill>
                  <a:srgbClr val="1E2A43"/>
                </a:solidFill>
                <a:latin typeface="Arial"/>
              </a:defRPr>
            </a:pPr>
            <a:r>
              <a:t>Feasibility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490472"/>
            <a:ext cx="11173968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880" b="1">
                <a:solidFill>
                  <a:srgbClr val="1E2A43"/>
                </a:solidFill>
              </a:rPr>
              <a:t>•  Technical: </a:t>
            </a:r>
            <a:r>
              <a:rPr sz="880">
                <a:solidFill>
                  <a:srgbClr val="4E5B6E"/>
                </a:solidFill>
              </a:rPr>
              <a:t>Lightweight Progressive Web App runs smoothly on low-cost 2GB RAM smartphones; sub-50ms cached voice synthesis, &lt;1.8s LLM response.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1E2A43"/>
                </a:solidFill>
              </a:rPr>
              <a:t>•  Operational: </a:t>
            </a:r>
            <a:r>
              <a:rPr sz="880">
                <a:solidFill>
                  <a:srgbClr val="4E5B6E"/>
                </a:solidFill>
              </a:rPr>
              <a:t>Offline-first design, intuitive Devanagari UI, and audio voice prompts require less than 15 minutes of training for ASHA workers.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1E2A43"/>
                </a:solidFill>
              </a:rPr>
              <a:t>•  Economic: </a:t>
            </a:r>
            <a:r>
              <a:rPr sz="880">
                <a:solidFill>
                  <a:srgbClr val="4E5B6E"/>
                </a:solidFill>
              </a:rPr>
              <a:t>Zero capital hardware expense; saves remote families ₹1,200 to ₹3,500 in mountain transit costs per health episode.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1E2A43"/>
                </a:solidFill>
              </a:rPr>
              <a:t>•  Legal/Compliance: </a:t>
            </a:r>
            <a:r>
              <a:rPr sz="880">
                <a:solidFill>
                  <a:srgbClr val="4E5B6E"/>
                </a:solidFill>
              </a:rPr>
              <a:t>Patient consent architecture, Zero-PII analytics logging, and strict 'AI estimate, not doctor diagnosis' safety watermarks.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1E2A43"/>
                </a:solidFill>
              </a:rPr>
              <a:t>•  User: </a:t>
            </a:r>
            <a:r>
              <a:rPr sz="880">
                <a:solidFill>
                  <a:srgbClr val="4E5B6E"/>
                </a:solidFill>
              </a:rPr>
              <a:t>High adoption driven by cultural resonance with AYUSH heritage, native Garhwali voice guidance, and single-tap emergency SOS.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1E2A43"/>
                </a:solidFill>
              </a:rPr>
              <a:t>•  Market/Value: </a:t>
            </a:r>
            <a:r>
              <a:rPr sz="880">
                <a:solidFill>
                  <a:srgbClr val="4E5B6E"/>
                </a:solidFill>
              </a:rPr>
              <a:t>Directly bridges critical gaps for NHA's Ayushman Bharat Digital Mission (ABDM) and National Health Mission in mountain states.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3364992"/>
          <a:ext cx="11430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Challenges/Risk</a:t>
                      </a:r>
                    </a:p>
                  </a:txBody>
                  <a:tcPr anchor="ctr">
                    <a:solidFill>
                      <a:srgbClr val="2858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2858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Strategy to overcome</a:t>
                      </a:r>
                    </a:p>
                  </a:txBody>
                  <a:tcPr anchor="ctr">
                    <a:solidFill>
                      <a:srgbClr val="285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A43"/>
                          </a:solidFill>
                        </a:defRPr>
                      </a:pPr>
                      <a:r>
                        <a:t>Network Disconnection / Landslides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E5B6E"/>
                          </a:solidFill>
                        </a:defRPr>
                      </a:pPr>
                      <a:r>
                        <a:t>Fiber breaks and zero cellular connectivity in mountain gorges block cloud LLM inference.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E5B6E"/>
                          </a:solidFill>
                        </a:defRPr>
                      </a:pPr>
                      <a:r>
                        <a:t>Dual-layer offline architecture: Client-side rule-based MTS triage engine + IndexedDB SQLite sync queue on network recovery.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A43"/>
                          </a:solidFill>
                        </a:defRPr>
                      </a:pPr>
                      <a:r>
                        <a:t>Dialect &amp; Acoustic Noise Ambiguity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E5B6E"/>
                          </a:solidFill>
                        </a:defRPr>
                      </a:pPr>
                      <a:r>
                        <a:t>Alpine wind/river ambient noise and colloquial Garhwali idioms cause transcription errors.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E5B6E"/>
                          </a:solidFill>
                        </a:defRPr>
                      </a:pPr>
                      <a:r>
                        <a:t>Acoustic noise cancellation filter + specialized Garhwali phonetic dictionary + fallback confirmation chips.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A43"/>
                          </a:solidFill>
                        </a:defRPr>
                      </a:pPr>
                      <a:r>
                        <a:t>AI Clinical Hallucination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E5B6E"/>
                          </a:solidFill>
                        </a:defRPr>
                      </a:pPr>
                      <a:r>
                        <a:t>Generative LLMs prescribing unsafe herbs or missing subtle acute cardiac/stroke symptoms.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E5B6E"/>
                          </a:solidFill>
                        </a:defRPr>
                      </a:pPr>
                      <a:r>
                        <a:t>Deterministic Safety Knowledge Graph blocks contraindicated herbs; critical Red flags bypass LLM to trigger 108 SOS instantly.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A43"/>
                          </a:solidFill>
                        </a:defRPr>
                      </a:pPr>
                      <a:r>
                        <a:t>Himalayan Lighting Disparities in CV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E5B6E"/>
                          </a:solidFill>
                        </a:defRPr>
                      </a:pPr>
                      <a:r>
                        <a:t>High-altitude UV glare or dim indoor stone huts causes severe color distortion on camera.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E5B6E"/>
                          </a:solidFill>
                        </a:defRPr>
                      </a:pPr>
                      <a:r>
                        <a:t>Gray-World adaptive white-balance algorithm + CLAHE contrast normalization in CIELAB/HSV color spaces.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A43"/>
                          </a:solidFill>
                        </a:defRPr>
                      </a:pPr>
                      <a:r>
                        <a:t>Low Tech Adoption among Elderly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E5B6E"/>
                          </a:solidFill>
                        </a:defRPr>
                      </a:pPr>
                      <a:r>
                        <a:t>Elderly villagers unable to read screens or navigate complex touch interfaces.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E5B6E"/>
                          </a:solidFill>
                        </a:defRPr>
                      </a:pPr>
                      <a:r>
                        <a:t>Hands-free conversational voice interface powered by Sarvam Indic TTS + visual iconography &amp; 1-tap SOS.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Picture 10" descr="SIH_2026_logo_upsca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37160"/>
            <a:ext cx="182880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18288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200" b="1">
                <a:solidFill>
                  <a:srgbClr val="1E2A43"/>
                </a:solidFill>
              </a:defRPr>
            </a:pPr>
            <a:r>
              <a:rPr lang="en-IN" sz="1200" b="1" dirty="0">
                <a:solidFill>
                  <a:schemeClr val="tx2"/>
                </a:solidFill>
                <a:latin typeface="Arial"/>
              </a:rPr>
              <a:t>Arogya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103120" y="164592"/>
            <a:ext cx="7680960" cy="777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200" b="1">
                <a:solidFill>
                  <a:srgbClr val="28588C"/>
                </a:solidFill>
                <a:latin typeface="Georgia"/>
              </a:defRPr>
            </a:pPr>
            <a:r>
              <a:t>IMPACT AND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B6BA8"/>
                </a:solidFill>
              </a:defRPr>
            </a:pPr>
            <a:r>
              <a:t>@Sanjeevani-TeleHealth                                                                                                                                           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57784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124712"/>
            <a:ext cx="535838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u="sng">
                <a:solidFill>
                  <a:srgbClr val="1E2A43"/>
                </a:solidFill>
                <a:latin typeface="Arial"/>
              </a:defRPr>
            </a:pPr>
            <a:r>
              <a:t>Potential impact on the target 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490472"/>
            <a:ext cx="5321807" cy="4809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1E2A43"/>
                </a:solidFill>
              </a:rPr>
              <a:t>•  Mountain Citizens &amp; Remote Villagers:
</a:t>
            </a:r>
          </a:p>
          <a:p>
            <a:pPr>
              <a:spcAft>
                <a:spcPts val="200"/>
              </a:spcAft>
            </a:pPr>
            <a:r>
              <a:rPr sz="860">
                <a:solidFill>
                  <a:srgbClr val="4E5B6E"/>
                </a:solidFill>
              </a:rPr>
              <a:t>    –  Eliminates arduous 15–30 km treks over hazardous mountain paths for minor ailments.</a:t>
            </a:r>
          </a:p>
          <a:p>
            <a:pPr>
              <a:spcAft>
                <a:spcPts val="200"/>
              </a:spcAft>
            </a:pPr>
            <a:r>
              <a:rPr sz="860">
                <a:solidFill>
                  <a:srgbClr val="4E5B6E"/>
                </a:solidFill>
              </a:rPr>
              <a:t>    –  Guarantees 24/7 clinical emergency assessment in their native mother tongue (Garhwali).</a:t>
            </a:r>
          </a:p>
          <a:p>
            <a:pPr>
              <a:spcAft>
                <a:spcPts val="200"/>
              </a:spcAft>
            </a:pPr>
            <a:r>
              <a:rPr sz="860">
                <a:solidFill>
                  <a:srgbClr val="4E5B6E"/>
                </a:solidFill>
              </a:rPr>
              <a:t>    –  Reduces average household healthcare travel expenditure by ₹1,200 to ₹3,500 per episode.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1E2A43"/>
                </a:solidFill>
              </a:rPr>
              <a:t>•  ASHA Workers &amp; Primary Health Centers:
</a:t>
            </a:r>
          </a:p>
          <a:p>
            <a:pPr>
              <a:spcAft>
                <a:spcPts val="200"/>
              </a:spcAft>
            </a:pPr>
            <a:r>
              <a:rPr sz="860">
                <a:solidFill>
                  <a:srgbClr val="4E5B6E"/>
                </a:solidFill>
              </a:rPr>
              <a:t>    –  Equips 1,000+ frontline health workers with a digital copilot for vitals and eye screening.</a:t>
            </a:r>
          </a:p>
          <a:p>
            <a:pPr>
              <a:spcAft>
                <a:spcPts val="200"/>
              </a:spcAft>
            </a:pPr>
            <a:r>
              <a:rPr sz="860">
                <a:solidFill>
                  <a:srgbClr val="4E5B6E"/>
                </a:solidFill>
              </a:rPr>
              <a:t>    –  Generates standardized HL7 FHIR referral cards, eliminating manual record keeping errors.</a:t>
            </a:r>
          </a:p>
          <a:p>
            <a:pPr>
              <a:spcAft>
                <a:spcPts val="200"/>
              </a:spcAft>
            </a:pPr>
            <a:r>
              <a:rPr sz="860">
                <a:solidFill>
                  <a:srgbClr val="4E5B6E"/>
                </a:solidFill>
              </a:rPr>
              <a:t>    –  Safely resolves mild routine cases, saving ~35% of PHC doctor consultation bandwidth.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1E2A43"/>
                </a:solidFill>
              </a:rPr>
              <a:t>•  District CMOs &amp; State Health Authorities:
</a:t>
            </a:r>
          </a:p>
          <a:p>
            <a:pPr>
              <a:spcAft>
                <a:spcPts val="200"/>
              </a:spcAft>
            </a:pPr>
            <a:r>
              <a:rPr sz="860">
                <a:solidFill>
                  <a:srgbClr val="4E5B6E"/>
                </a:solidFill>
              </a:rPr>
              <a:t>    –  Live geospatial outbreak heatmaps pinpoint typhoid, cholera, or flu spikes before spread.</a:t>
            </a:r>
          </a:p>
          <a:p>
            <a:pPr>
              <a:spcAft>
                <a:spcPts val="200"/>
              </a:spcAft>
            </a:pPr>
            <a:r>
              <a:rPr sz="860">
                <a:solidFill>
                  <a:srgbClr val="4E5B6E"/>
                </a:solidFill>
              </a:rPr>
              <a:t>    –  Complete auditable chain of custody with Zero-PII compliance for state health monitoring.</a:t>
            </a:r>
          </a:p>
          <a:p>
            <a:pPr>
              <a:spcAft>
                <a:spcPts val="200"/>
              </a:spcAft>
            </a:pPr>
            <a:r>
              <a:rPr sz="860">
                <a:solidFill>
                  <a:srgbClr val="4E5B6E"/>
                </a:solidFill>
              </a:rPr>
              <a:t>    –  Strengthens Uttarakhand's disaster preparedness during Monsoons and Char Dham Yatra.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51560"/>
            <a:ext cx="566928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36208" y="1124712"/>
            <a:ext cx="544982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u="sng">
                <a:solidFill>
                  <a:srgbClr val="1E2A43"/>
                </a:solidFill>
                <a:latin typeface="Arial"/>
              </a:defRPr>
            </a:pPr>
            <a:r>
              <a:t>Benefits of Sanjeevani Tele-Triage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496" y="1490472"/>
            <a:ext cx="5413248" cy="4809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19" b="1">
                <a:solidFill>
                  <a:srgbClr val="1E2A43"/>
                </a:solidFill>
              </a:rPr>
              <a:t>•  Social Impact:
</a:t>
            </a:r>
            <a:r>
              <a:rPr sz="850">
                <a:solidFill>
                  <a:srgbClr val="4E5B6E"/>
                </a:solidFill>
              </a:rPr>
              <a:t>Democratizes specialist diagnostic triage to the outermost border villages. Replaces hazardous folk superstitions with scientifically verified AYUSH remedies, upholding indigenous heritage with modern clinical rigor.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1E2A43"/>
                </a:solidFill>
              </a:rPr>
              <a:t>•  Economic Efficiency:
</a:t>
            </a:r>
            <a:r>
              <a:rPr sz="850">
                <a:solidFill>
                  <a:srgbClr val="4E5B6E"/>
                </a:solidFill>
              </a:rPr>
              <a:t>Prevents catastrophic medical emergencies through early detection of Yellow/Red tier symptoms. Saves district hospitals up to ₹45 Lakhs annually in preventable emergency room congestion and ambulance misdirection.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1E2A43"/>
                </a:solidFill>
              </a:rPr>
              <a:t>•  Operational Reliability:
</a:t>
            </a:r>
            <a:r>
              <a:rPr sz="850">
                <a:solidFill>
                  <a:srgbClr val="4E5B6E"/>
                </a:solidFill>
              </a:rPr>
              <a:t>Delivers zero downtime during natural disasters. The offline-first architecture functions when mountain cellular towers fail, providing continuous guidance during high-altitude isolation.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617720"/>
            <a:ext cx="5303520" cy="1600200"/>
          </a:xfrm>
          <a:prstGeom prst="roundRect">
            <a:avLst/>
          </a:prstGeom>
          <a:solidFill>
            <a:srgbClr val="EEF3F8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300"/>
              </a:spcAft>
              <a:defRPr sz="919" b="1">
                <a:solidFill>
                  <a:srgbClr val="28588C"/>
                </a:solidFill>
              </a:defRPr>
            </a:pPr>
            <a:r>
              <a:t>🎯 TARGET OUTCOMES (12-MONTH UTTARAKHAND PILOT)</a:t>
            </a: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1E2A43"/>
                </a:solidFill>
              </a:rPr>
              <a:t>•  45%+ — </a:t>
            </a:r>
            <a:r>
              <a:rPr sz="819">
                <a:solidFill>
                  <a:srgbClr val="4E5B6E"/>
                </a:solidFill>
              </a:rPr>
              <a:t>Reduction in unnecessary travel for routine non-emergency visits</a:t>
            </a: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1E2A43"/>
                </a:solidFill>
              </a:rPr>
              <a:t>•  &lt; 2s — </a:t>
            </a:r>
            <a:r>
              <a:rPr sz="819">
                <a:solidFill>
                  <a:srgbClr val="4E5B6E"/>
                </a:solidFill>
              </a:rPr>
              <a:t>Emergency Red-tier detection and 108 SOS ambulance dispatch trigger</a:t>
            </a: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1E2A43"/>
                </a:solidFill>
              </a:rPr>
              <a:t>•  100% — </a:t>
            </a:r>
            <a:r>
              <a:rPr sz="819">
                <a:solidFill>
                  <a:srgbClr val="4E5B6E"/>
                </a:solidFill>
              </a:rPr>
              <a:t>Operational triage availability during monsoon network blackouts</a:t>
            </a: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1E2A43"/>
                </a:solidFill>
              </a:rPr>
              <a:t>•  50+ — </a:t>
            </a:r>
            <a:r>
              <a:rPr sz="819">
                <a:solidFill>
                  <a:srgbClr val="4E5B6E"/>
                </a:solidFill>
              </a:rPr>
              <a:t>Ayurvedic Pharmacopoeia (CCRAS) verified remedies safe-screened</a:t>
            </a:r>
          </a:p>
        </p:txBody>
      </p:sp>
      <p:pic>
        <p:nvPicPr>
          <p:cNvPr id="14" name="Picture 13" descr="SIH_2026_logo_upsca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37160"/>
            <a:ext cx="182880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18288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200" b="1">
                <a:solidFill>
                  <a:srgbClr val="1E2A43"/>
                </a:solidFill>
              </a:defRPr>
            </a:pPr>
            <a:r>
              <a:rPr lang="en-IN" sz="1200" b="1" dirty="0">
                <a:solidFill>
                  <a:schemeClr val="tx2"/>
                </a:solidFill>
                <a:latin typeface="Arial"/>
              </a:rPr>
              <a:t>Arogya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103120" y="164592"/>
            <a:ext cx="7680960" cy="777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200" b="1">
                <a:solidFill>
                  <a:srgbClr val="28588C"/>
                </a:solidFill>
                <a:latin typeface="Georgia"/>
              </a:defRPr>
            </a:pPr>
            <a:r>
              <a:t>RESEARCH AND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B6BA8"/>
                </a:solidFill>
              </a:defRPr>
            </a:pPr>
            <a:r>
              <a:rPr dirty="0"/>
              <a:t>@Sanjeevani-TeleHealth                                                                                                                                 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06424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950" b="1">
                <a:solidFill>
                  <a:srgbClr val="1A2333"/>
                </a:solidFill>
                <a:latin typeface="Arial"/>
              </a:rPr>
              <a:t>❑  Mackway-Jones, K., Marsden, J., &amp; Windle, J. (2014). </a:t>
            </a:r>
            <a:r>
              <a:rPr sz="919" i="1">
                <a:solidFill>
                  <a:srgbClr val="28588C"/>
                </a:solidFill>
                <a:latin typeface="Arial"/>
              </a:rPr>
              <a:t>Emergency Triage: Manchester Triage Group (3rd ed.). BMJ Books / Wiley-Blackwell. </a:t>
            </a:r>
            <a:r>
              <a:rPr sz="850" b="1">
                <a:solidFill>
                  <a:srgbClr val="4C7348"/>
                </a:solidFill>
                <a:latin typeface="Arial"/>
              </a:rPr>
              <a:t>
     ↳ Clinical Relevance: Foundational protocol for Sanjeevani's 5-level clinical severity triage scoring (Red / Yellow / Green mapping).</a:t>
            </a:r>
          </a:p>
          <a:p>
            <a:pPr>
              <a:spcAft>
                <a:spcPts val="1000"/>
              </a:spcAft>
            </a:pPr>
            <a:r>
              <a:rPr sz="950" b="1">
                <a:solidFill>
                  <a:srgbClr val="1A2333"/>
                </a:solidFill>
                <a:latin typeface="Arial"/>
              </a:rPr>
              <a:t>❑  Ministry of Ayush, Government of India (2020). </a:t>
            </a:r>
            <a:r>
              <a:rPr sz="919" i="1">
                <a:solidFill>
                  <a:srgbClr val="28588C"/>
                </a:solidFill>
                <a:latin typeface="Arial"/>
              </a:rPr>
              <a:t>The Ayurvedic Pharmacopoeia of India (API), Part-I, Vol. I–IX. Pharmacopoeia Commission for Indian Medicine &amp; Homoeopathy. </a:t>
            </a:r>
            <a:r>
              <a:rPr sz="850" b="1">
                <a:solidFill>
                  <a:srgbClr val="4C7348"/>
                </a:solidFill>
                <a:latin typeface="Arial"/>
              </a:rPr>
              <a:t>
     ↳ Clinical Relevance: Clinical dosage, contraindications, and preparation standards for all 50+ classical remedies in ChromaDB.</a:t>
            </a:r>
          </a:p>
          <a:p>
            <a:pPr>
              <a:spcAft>
                <a:spcPts val="1000"/>
              </a:spcAft>
            </a:pPr>
            <a:r>
              <a:rPr sz="950" b="1">
                <a:solidFill>
                  <a:srgbClr val="1A2333"/>
                </a:solidFill>
                <a:latin typeface="Arial"/>
              </a:rPr>
              <a:t>❑  Mannino, R. G., Myers, D. R., Tyburski, E. A., et al. (2018). </a:t>
            </a:r>
            <a:r>
              <a:rPr sz="919" i="1">
                <a:solidFill>
                  <a:srgbClr val="28588C"/>
                </a:solidFill>
                <a:latin typeface="Arial"/>
              </a:rPr>
              <a:t>Smartphone app for non-invasive detection of anemia using optical imaging of palpebral conjunctiva. Nature Communications, 9(1), 4924. </a:t>
            </a:r>
            <a:r>
              <a:rPr sz="850" b="1">
                <a:solidFill>
                  <a:srgbClr val="4C7348"/>
                </a:solidFill>
                <a:latin typeface="Arial"/>
              </a:rPr>
              <a:t>
     ↳ Clinical Relevance: Underlying biomedical computer vision basis for Sanjeevani's conjunctival erythema and pallor estimation.</a:t>
            </a:r>
          </a:p>
          <a:p>
            <a:pPr>
              <a:spcAft>
                <a:spcPts val="1000"/>
              </a:spcAft>
            </a:pPr>
            <a:r>
              <a:rPr sz="950" b="1">
                <a:solidFill>
                  <a:srgbClr val="1A2333"/>
                </a:solidFill>
                <a:latin typeface="Arial"/>
              </a:rPr>
              <a:t>❑  World Health Organization (2021). </a:t>
            </a:r>
            <a:r>
              <a:rPr sz="919" i="1">
                <a:solidFill>
                  <a:srgbClr val="28588C"/>
                </a:solidFill>
                <a:latin typeface="Arial"/>
              </a:rPr>
              <a:t>Recommendations on Digital Interventions for Health System Strengthening (WHO/RHR/19.7). Geneva: World Health Organization. </a:t>
            </a:r>
            <a:r>
              <a:rPr sz="850" b="1">
                <a:solidFill>
                  <a:srgbClr val="4C7348"/>
                </a:solidFill>
                <a:latin typeface="Arial"/>
              </a:rPr>
              <a:t>
     ↳ Clinical Relevance: Validates frontline ASHA digital decision-support and offline-first mobile sync architectures for remote health.</a:t>
            </a:r>
          </a:p>
          <a:p>
            <a:pPr>
              <a:spcAft>
                <a:spcPts val="1000"/>
              </a:spcAft>
            </a:pPr>
            <a:r>
              <a:rPr sz="950" b="1">
                <a:solidFill>
                  <a:srgbClr val="1A2333"/>
                </a:solidFill>
                <a:latin typeface="Arial"/>
              </a:rPr>
              <a:t>❑  National Health Authority (NHA), Government of India (2023). </a:t>
            </a:r>
            <a:r>
              <a:rPr sz="919" i="1">
                <a:solidFill>
                  <a:srgbClr val="28588C"/>
                </a:solidFill>
                <a:latin typeface="Arial"/>
              </a:rPr>
              <a:t>Ayushman Bharat Digital Mission (ABDM): Health Information Exchange &amp; Consent Artefact (FHIR Release 4 Specifications). </a:t>
            </a:r>
            <a:r>
              <a:rPr sz="850" b="1">
                <a:solidFill>
                  <a:srgbClr val="4C7348"/>
                </a:solidFill>
                <a:latin typeface="Arial"/>
              </a:rPr>
              <a:t>
     ↳ Clinical Relevance: Standard for Sanjeevani's electronic referral payloads, role-based patient consent, and hospital interoperability.</a:t>
            </a:r>
          </a:p>
          <a:p>
            <a:pPr>
              <a:spcAft>
                <a:spcPts val="1000"/>
              </a:spcAft>
            </a:pPr>
            <a:r>
              <a:rPr sz="950" b="1">
                <a:solidFill>
                  <a:srgbClr val="1A2333"/>
                </a:solidFill>
                <a:latin typeface="Arial"/>
              </a:rPr>
              <a:t>❑  Sarvam AI &amp; Bhashini Project (2024). </a:t>
            </a:r>
            <a:r>
              <a:rPr sz="919" i="1">
                <a:solidFill>
                  <a:srgbClr val="28588C"/>
                </a:solidFill>
                <a:latin typeface="Arial"/>
              </a:rPr>
              <a:t>Advancing Indic Speech &amp; NLP Technologies for Low-Resource Regional Languages. Ministry of Electronics &amp; IT (MeitY). </a:t>
            </a:r>
            <a:r>
              <a:rPr sz="850" b="1">
                <a:solidFill>
                  <a:srgbClr val="4C7348"/>
                </a:solidFill>
                <a:latin typeface="Arial"/>
              </a:rPr>
              <a:t>
     ↳ Clinical Relevance: Benchmarks for Romanized Garhwali speech transcription and low-latency Indic acoustic voice synthesis.</a:t>
            </a:r>
          </a:p>
        </p:txBody>
      </p:sp>
      <p:pic>
        <p:nvPicPr>
          <p:cNvPr id="8" name="Picture 7" descr="SIH_2026_logo_upsca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37160"/>
            <a:ext cx="1828800" cy="868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1823</Words>
  <Application>Microsoft Office PowerPoint</Application>
  <PresentationFormat>Widescreen</PresentationFormat>
  <Paragraphs>116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Sachin Singh</cp:lastModifiedBy>
  <cp:revision>5</cp:revision>
  <dcterms:created xsi:type="dcterms:W3CDTF">2013-01-27T09:14:16Z</dcterms:created>
  <dcterms:modified xsi:type="dcterms:W3CDTF">2026-09-25T08:41:35Z</dcterms:modified>
  <cp:category/>
</cp:coreProperties>
</file>